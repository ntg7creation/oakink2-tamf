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5b97bec83324038" /><Relationship Type="http://schemas.openxmlformats.org/officeDocument/2006/relationships/extended-properties" Target="/docProps/app.xml" Id="R6baaabff88eb44cb" /><Relationship Type="http://schemas.openxmlformats.org/officeDocument/2006/relationships/officeDocument" Target="/ppt/presentation.xml" Id="R3894d76558254ef9" /></Relationships>
</file>

<file path=ppt/presentation.xml><?xml version="1.0" encoding="utf-8"?>
<p:presentation xmlns:p="http://schemas.openxmlformats.org/presentationml/2006/main">
  <p:sldMasterIdLst>
    <p:sldMasterId xmlns:r="http://schemas.openxmlformats.org/officeDocument/2006/relationships" id="2147483648" r:id="Re31211e348204bd8"/>
  </p:sldMasterIdLst>
  <p:notesMasterIdLst>
    <p:notesMasterId xmlns:r="http://schemas.openxmlformats.org/officeDocument/2006/relationships" r:id="R36c1c99c53494b04"/>
  </p:notesMasterIdLst>
  <p:sldIdLst>
    <p:sldId xmlns:r="http://schemas.openxmlformats.org/officeDocument/2006/relationships" id="256" r:id="R567d8f3f52c0421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8d50f24a9374f76" /><Relationship Type="http://schemas.openxmlformats.org/officeDocument/2006/relationships/slideMaster" Target="/ppt/slideMasters/slideMaster1.xml" Id="Re31211e348204bd8" /><Relationship Type="http://schemas.openxmlformats.org/officeDocument/2006/relationships/notesMaster" Target="/ppt/notesMasters/notesMaster1.xml" Id="R36c1c99c53494b04" /><Relationship Type="http://schemas.openxmlformats.org/officeDocument/2006/relationships/presProps" Target="/ppt/presProps.xml" Id="Re574f1d433ee4b91" /><Relationship Type="http://schemas.openxmlformats.org/officeDocument/2006/relationships/tableStyles" Target="/ppt/tableStyles.xml" Id="Refb4239a02c54d40" /><Relationship Type="http://schemas.openxmlformats.org/officeDocument/2006/relationships/slide" Target="/ppt/slides/slide1.xml" Id="R567d8f3f52c0421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096e34bbb2348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45e1eefff8a4c28" /><Relationship Type="http://schemas.openxmlformats.org/officeDocument/2006/relationships/notesMaster" Target="/ppt/notesMasters/notesMaster1.xml" Id="R73ee66f8555a49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proposes a training objective and does not claim it is implemented. CET is currently an evaluation metric. With 15 equal joint weights the saved evaluator reports mean absolute angle error over its shared constrained DTW path P. Mean across 91 final-output motions is 9.965959984933022 degrees. GT depth D_GT=mean_j,t abs(theta_tj) and GT total variation V_GT=mean_j sum_t abs(theta_tj-theta_(t-1)j) are reference descriptors, not losses: minimizing either alone would encourage less curl or less movement. Proposed VCET here compares signed physical-time angular velocities, not scalar accumulated activity. Compute finite differences using actual frame timestamps before alignment; align the resulting velocity samples with the angle path, excluding pairs without a valid preceding interval, denoted P_v. Repeated DTW samples must not be differentiated as if path progress were real time. Freeze the interval/index convention before implementation. This VCET is a proposal and has not been computed from saved results. Existing NAE37.50 percent measures per-motion scalar activity-rate disagreement, not this trajectory velocity loss. Zero VCET alone cannot detect constant posture offsets, so CET remains primary. A possible training objective is L_base + lambda_C L_CET + lambda_V L_VCET with unit-aware weights. Hard DTW path selection needs a deliberate training implementation (e.g. a frozen path per forward pass or validated differentiable alignment surrogate); the exact evaluator is not automatically a differentiable loss. Keep original CET for validation. GT/prediction differences in physical-time velocity remain sensitive to execution speed and finite differences amplify noise. No energy in joules is computed. Source: Scripts/evaluate_cet.py and common/partial_batch/test_one__0399/cet/20261006T015545971089Z/motions.json. Partial batch91 unique motions.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46660a56f94a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bdc9e072ad4a25" /><Relationship Type="http://schemas.openxmlformats.org/officeDocument/2006/relationships/slideLayout" Target="/ppt/slideLayouts/slideLayout1.xml" Id="R4f67bbe093964e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f67bbe093964e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5b26d2acf6243d5" /><Relationship Type="http://schemas.openxmlformats.org/officeDocument/2006/relationships/image" Target="/ppt/media/image.png" Id="R7a6a8933e7064963" /><Relationship Type="http://schemas.openxmlformats.org/officeDocument/2006/relationships/image" Target="/ppt/media/image2.png" Id="Rbb9b1ae303984c8c" /><Relationship Type="http://schemas.openxmlformats.org/officeDocument/2006/relationships/image" Target="/ppt/media/image3.png" Id="Rb8e4687f8fef43de" /><Relationship Type="http://schemas.openxmlformats.org/officeDocument/2006/relationships/notesSlide" Target="/ppt/notesSlides/notesSlide1.xml" Id="R66c91bb4e729450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C27D3C8-D08A-4A6D-8D2E-43A922D46586}"/>
              </a:ext>
            </a:extLst>
          </p:cNvPr>
          <p:cNvSpPr>
            <a:spLocks xmlns:a="http://schemas.openxmlformats.org/drawingml/2006/main" noGrp="1"/>
          </p:cNvSpPr>
          <p:nvPr/>
        </p:nvSpPr>
        <p:spPr>
          <a:xfrm xmlns:a="http://schemas.openxmlformats.org/drawingml/2006/main">
            <a:off x="590550" y="2857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2F3D"/>
                </a:solidFill>
                <a:latin typeface="Arial"/>
                <a:ea typeface="Arial"/>
                <a:cs typeface="Arial"/>
              </a:defRPr>
            </a:pPr>
            <a:r>
              <a:rPr sz="3300" b="1">
                <a:solidFill>
                  <a:srgbClr val="182F3D"/>
                </a:solidFill>
                <a:latin typeface="Arial"/>
                <a:ea typeface="Arial"/>
                <a:cs typeface="Arial"/>
              </a:rPr>
              <a:t>Finger articulation losses</a:t>
            </a:r>
          </a:p>
        </p:txBody>
      </p:sp>
      <p:sp>
        <p:nvSpPr>
          <p:cNvPr id="2" name="">
            <a:extLst xmlns:a="http://schemas.openxmlformats.org/drawingml/2006/main">
              <a:ext uri="{FF2B5EF4-FFF2-40B4-BE49-F238E27FC236}">
                <a16:creationId xmlns:a16="http://schemas.microsoft.com/office/drawing/2014/main" id="{01607C74-B392-453C-899E-9B8FDEBB0AC8}"/>
              </a:ext>
            </a:extLst>
          </p:cNvPr>
          <p:cNvSpPr>
            <a:spLocks xmlns:a="http://schemas.openxmlformats.org/drawingml/2006/main" noGrp="1"/>
          </p:cNvSpPr>
          <p:nvPr/>
        </p:nvSpPr>
        <p:spPr>
          <a:xfrm xmlns:a="http://schemas.openxmlformats.org/drawingml/2006/main">
            <a:off x="619125" y="106680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B827E"/>
                </a:solidFill>
                <a:latin typeface="Arial"/>
                <a:ea typeface="Arial"/>
                <a:cs typeface="Arial"/>
              </a:defRPr>
            </a:pPr>
            <a:r>
              <a:rPr sz="2700" b="1">
                <a:solidFill>
                  <a:srgbClr val="1B827E"/>
                </a:solidFill>
                <a:latin typeface="Arial"/>
                <a:ea typeface="Arial"/>
                <a:cs typeface="Arial"/>
              </a:rPr>
              <a:t>CET: match finger angles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a6a8933e7064963"/>
          <a:stretch xmlns:a="http://schemas.openxmlformats.org/drawingml/2006/main"/>
        </p:blipFill>
        <p:spPr>
          <a:xfrm xmlns:a="http://schemas.openxmlformats.org/drawingml/2006/main">
            <a:off x="2137327" y="1600200"/>
            <a:ext cx="7917346" cy="1571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304D9DC-2A9E-48D2-A296-7F339B357471}"/>
              </a:ext>
            </a:extLst>
          </p:cNvPr>
          <p:cNvSpPr>
            <a:spLocks xmlns:a="http://schemas.openxmlformats.org/drawingml/2006/main" noGrp="1"/>
          </p:cNvSpPr>
          <p:nvPr/>
        </p:nvSpPr>
        <p:spPr>
          <a:xfrm xmlns:a="http://schemas.openxmlformats.org/drawingml/2006/main">
            <a:off x="619125" y="31908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B827E"/>
                </a:solidFill>
                <a:latin typeface="Arial"/>
                <a:ea typeface="Arial"/>
                <a:cs typeface="Arial"/>
              </a:defRPr>
            </a:pPr>
            <a:r>
              <a:rPr sz="2250" b="1">
                <a:solidFill>
                  <a:srgbClr val="1B827E"/>
                </a:solidFill>
                <a:latin typeface="Arial"/>
                <a:ea typeface="Arial"/>
                <a:cs typeface="Arial"/>
              </a:rPr>
              <a:t>Current mean 9.97°     Goal 0°</a:t>
            </a:r>
          </a:p>
        </p:txBody>
      </p:sp>
      <p:sp>
        <p:nvSpPr>
          <p:cNvPr id="5" name="">
            <a:extLst xmlns:a="http://schemas.openxmlformats.org/drawingml/2006/main">
              <a:ext uri="{FF2B5EF4-FFF2-40B4-BE49-F238E27FC236}">
                <a16:creationId xmlns:a16="http://schemas.microsoft.com/office/drawing/2014/main" id="{8528EAF9-1EFB-4580-8A89-C1A65CD99D3B}"/>
              </a:ext>
            </a:extLst>
          </p:cNvPr>
          <p:cNvSpPr>
            <a:spLocks xmlns:a="http://schemas.openxmlformats.org/drawingml/2006/main" noGrp="1"/>
          </p:cNvSpPr>
          <p:nvPr/>
        </p:nvSpPr>
        <p:spPr>
          <a:xfrm xmlns:a="http://schemas.openxmlformats.org/drawingml/2006/main">
            <a:off x="619125" y="3819525"/>
            <a:ext cx="10763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B96330"/>
                </a:solidFill>
                <a:latin typeface="Arial"/>
                <a:ea typeface="Arial"/>
                <a:cs typeface="Arial"/>
              </a:defRPr>
            </a:pPr>
            <a:r>
              <a:rPr sz="2475" b="1">
                <a:solidFill>
                  <a:srgbClr val="B96330"/>
                </a:solidFill>
                <a:latin typeface="Arial"/>
                <a:ea typeface="Arial"/>
                <a:cs typeface="Arial"/>
              </a:rPr>
              <a:t>Proposed VCET: match bending speed</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b9b1ae303984c8c"/>
          <a:stretch xmlns:a="http://schemas.openxmlformats.org/drawingml/2006/main"/>
        </p:blipFill>
        <p:spPr>
          <a:xfrm xmlns:a="http://schemas.openxmlformats.org/drawingml/2006/main">
            <a:off x="2355229" y="4343400"/>
            <a:ext cx="7481542" cy="1362075"/>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8e4687f8fef43de"/>
          <a:stretch xmlns:a="http://schemas.openxmlformats.org/drawingml/2006/main"/>
        </p:blipFill>
        <p:spPr>
          <a:xfrm xmlns:a="http://schemas.openxmlformats.org/drawingml/2006/main">
            <a:off x="968901" y="5810250"/>
            <a:ext cx="2577048" cy="6953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5CF0E96-51E5-417E-9948-9D55784950BF}"/>
              </a:ext>
            </a:extLst>
          </p:cNvPr>
          <p:cNvSpPr>
            <a:spLocks xmlns:a="http://schemas.openxmlformats.org/drawingml/2006/main" noGrp="1"/>
          </p:cNvSpPr>
          <p:nvPr/>
        </p:nvSpPr>
        <p:spPr>
          <a:xfrm xmlns:a="http://schemas.openxmlformats.org/drawingml/2006/main">
            <a:off x="4095750" y="59912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2F3D"/>
                </a:solidFill>
                <a:latin typeface="Arial"/>
                <a:ea typeface="Arial"/>
                <a:cs typeface="Arial"/>
              </a:defRPr>
            </a:pPr>
            <a:r>
              <a:rPr sz="1800" b="0">
                <a:solidFill>
                  <a:srgbClr val="182F3D"/>
                </a:solidFill>
                <a:latin typeface="Arial"/>
                <a:ea typeface="Arial"/>
                <a:cs typeface="Arial"/>
              </a:rPr>
              <a:t>Angular velocity (°/s)</a:t>
            </a:r>
          </a:p>
        </p:txBody>
      </p:sp>
      <p:sp>
        <p:nvSpPr>
          <p:cNvPr id="9" name="">
            <a:extLst xmlns:a="http://schemas.openxmlformats.org/drawingml/2006/main">
              <a:ext uri="{FF2B5EF4-FFF2-40B4-BE49-F238E27FC236}">
                <a16:creationId xmlns:a16="http://schemas.microsoft.com/office/drawing/2014/main" id="{F63001D0-FD33-4AF8-BF9F-8D39945E45B6}"/>
              </a:ext>
            </a:extLst>
          </p:cNvPr>
          <p:cNvSpPr>
            <a:spLocks xmlns:a="http://schemas.openxmlformats.org/drawingml/2006/main" noGrp="1"/>
          </p:cNvSpPr>
          <p:nvPr/>
        </p:nvSpPr>
        <p:spPr>
          <a:xfrm xmlns:a="http://schemas.openxmlformats.org/drawingml/2006/main">
            <a:off x="8620125" y="59626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B96330"/>
                </a:solidFill>
                <a:latin typeface="Arial"/>
                <a:ea typeface="Arial"/>
                <a:cs typeface="Arial"/>
              </a:defRPr>
            </a:pPr>
            <a:r>
              <a:rPr sz="2250" b="1">
                <a:solidFill>
                  <a:srgbClr val="B96330"/>
                </a:solidFill>
                <a:latin typeface="Arial"/>
                <a:ea typeface="Arial"/>
                <a:cs typeface="Arial"/>
              </a:rPr>
              <a:t>Goal 0°/s</a:t>
            </a:r>
          </a:p>
        </p:txBody>
      </p:sp>
      <p:sp>
        <p:nvSpPr>
          <p:cNvPr id="10" name="">
            <a:extLst xmlns:a="http://schemas.openxmlformats.org/drawingml/2006/main">
              <a:ext uri="{FF2B5EF4-FFF2-40B4-BE49-F238E27FC236}">
                <a16:creationId xmlns:a16="http://schemas.microsoft.com/office/drawing/2014/main" id="{D6D4912A-DD70-49DC-A30A-061EC5466480}"/>
              </a:ext>
            </a:extLst>
          </p:cNvPr>
          <p:cNvSpPr>
            <a:spLocks xmlns:a="http://schemas.openxmlformats.org/drawingml/2006/main" noGrp="1"/>
          </p:cNvSpPr>
          <p:nvPr/>
        </p:nvSpPr>
        <p:spPr>
          <a:xfrm xmlns:a="http://schemas.openxmlformats.org/drawingml/2006/main">
            <a:off x="619125" y="6572250"/>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670"/>
                </a:solidFill>
                <a:latin typeface="Arial"/>
                <a:ea typeface="Arial"/>
                <a:cs typeface="Arial"/>
              </a:defRPr>
            </a:pPr>
            <a:r>
              <a:rPr sz="1350" b="0">
                <a:solidFill>
                  <a:srgbClr val="536670"/>
                </a:solidFill>
                <a:latin typeface="Arial"/>
                <a:ea typeface="Arial"/>
                <a:cs typeface="Arial"/>
              </a:rPr>
              <a:t>P: DTW angle pairs   Pᵥ: valid velocity pairs   j: joint   θ: flexion angle</a:t>
            </a:r>
          </a:p>
        </p:txBody>
      </p:sp>
    </p:spTree>
    <p:extLst>
      <p:ext uri="{BB962C8B-B14F-4D97-AF65-F5344CB8AC3E}">
        <p14:creationId xmlns:p14="http://schemas.microsoft.com/office/powerpoint/2010/main" val="225820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2026-10-06T11:04:08.6040000Z</dcterms:created>
  <dcterms:modified xsi:type="dcterms:W3CDTF">2026-10-06T11:04:08.6040000Z</dcterms:modified>
</coreProperties>
</file>
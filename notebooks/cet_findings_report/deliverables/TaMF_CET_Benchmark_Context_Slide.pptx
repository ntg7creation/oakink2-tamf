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dc71c2ac874f16" /><Relationship Type="http://schemas.openxmlformats.org/officeDocument/2006/relationships/extended-properties" Target="/docProps/app.xml" Id="Rb18f1144c18844ce" /><Relationship Type="http://schemas.openxmlformats.org/officeDocument/2006/relationships/officeDocument" Target="/ppt/presentation.xml" Id="Rc2262dfd71de43fe" /></Relationships>
</file>

<file path=ppt/presentation.xml><?xml version="1.0" encoding="utf-8"?>
<p:presentation xmlns:p="http://schemas.openxmlformats.org/presentationml/2006/main">
  <p:sldMasterIdLst>
    <p:sldMasterId xmlns:r="http://schemas.openxmlformats.org/officeDocument/2006/relationships" id="2147483648" r:id="R39944d07101c4bec"/>
  </p:sldMasterIdLst>
  <p:notesMasterIdLst>
    <p:notesMasterId xmlns:r="http://schemas.openxmlformats.org/officeDocument/2006/relationships" r:id="Red99164fdae84698"/>
  </p:notesMasterIdLst>
  <p:sldIdLst>
    <p:sldId xmlns:r="http://schemas.openxmlformats.org/officeDocument/2006/relationships" id="256" r:id="R71e80b6e4d014a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42b4e2aeab4441" /><Relationship Type="http://schemas.openxmlformats.org/officeDocument/2006/relationships/slideMaster" Target="/ppt/slideMasters/slideMaster1.xml" Id="R39944d07101c4bec" /><Relationship Type="http://schemas.openxmlformats.org/officeDocument/2006/relationships/notesMaster" Target="/ppt/notesMasters/notesMaster1.xml" Id="Red99164fdae84698" /><Relationship Type="http://schemas.openxmlformats.org/officeDocument/2006/relationships/presProps" Target="/ppt/presProps.xml" Id="Rec295724129246d7" /><Relationship Type="http://schemas.openxmlformats.org/officeDocument/2006/relationships/tableStyles" Target="/ppt/tableStyles.xml" Id="R8a3fbb6a1c484f8d" /><Relationship Type="http://schemas.openxmlformats.org/officeDocument/2006/relationships/slide" Target="/ppt/slides/slide1.xml" Id="R71e80b6e4d014a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496e0e4ef645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470f020b1f44f5" /><Relationship Type="http://schemas.openxmlformats.org/officeDocument/2006/relationships/notesMaster" Target="/ppt/notesMasters/notesMaster1.xml" Id="R1205fc536ed040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contextualizes residual errors without truncating axes or changing source values. CET primary benchmark mean9.965959984933022 degrees. GT mean absolute flexion33.196345976759865 degrees, ratio of means30.021255929523093 percent. These angular summaries use the same 15 joints, but CET averages DTW path pairs whereas GT depth averages original valid frames. This ratio is additional descriptive magnitude analysis, not fraction of motion lost, not a validated perceptual threshold, and not mean of motion-level ratios. Mean absolute activity rate mismatch1.9790365483315997 degrees/s, as introduced in prior summary slide. Right bar shows median per-motion output/GT accumulated angular variation75.80658322868619 percent, corresponding to24.19341677131381 percent lower accumulated variation. 74 of91 motions have lower prediction accumulated variation. Equal duration in each prediction/GT pair makes total variation ratio identical to paired variation rate ratio. The right bar is a median descriptor ratio, separate from the mean absolute rate gap1.98 degrees/s. Reduce discrepancy, not reference activity or finger movement itself. Matching a scalar descriptor does not ensure correct motion trajectories. Sources: common/partial_batch/test_one__0399/cet/20261006T015545971089Z/motions.json; Scripts/evaluate_cet.py and Scripts/CET.md. Calculation in build/context_figure.py, recorded in analysis/summary_context_metrics.json. Partial batch of91 unique motions from20 source sequences.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bddb4d8d374b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f17a004d5c49c0" /><Relationship Type="http://schemas.openxmlformats.org/officeDocument/2006/relationships/slideLayout" Target="/ppt/slideLayouts/slideLayout1.xml" Id="R7dbe216e37dc4b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be216e37dc4b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24535ab0de453b" /><Relationship Type="http://schemas.openxmlformats.org/officeDocument/2006/relationships/image" Target="/ppt/media/image.png" Id="R6a5b7618f22c4c6e" /><Relationship Type="http://schemas.openxmlformats.org/officeDocument/2006/relationships/notesSlide" Target="/ppt/notesSlides/notesSlide1.xml" Id="R40014ae8d65b485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FE8B17-8C0C-4FFB-8CF3-762D04B69B28}"/>
              </a:ext>
            </a:extLst>
          </p:cNvPr>
          <p:cNvSpPr>
            <a:spLocks xmlns:a="http://schemas.openxmlformats.org/drawingml/2006/main" noGrp="1"/>
          </p:cNvSpPr>
          <p:nvPr/>
        </p:nvSpPr>
        <p:spPr>
          <a:xfrm xmlns:a="http://schemas.openxmlformats.org/drawingml/2006/main">
            <a:off x="590550" y="33337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2F3D"/>
                </a:solidFill>
                <a:latin typeface="Arial"/>
                <a:ea typeface="Arial"/>
                <a:cs typeface="Arial"/>
              </a:defRPr>
            </a:pPr>
            <a:r>
              <a:rPr sz="3000" b="1">
                <a:solidFill>
                  <a:srgbClr val="182F3D"/>
                </a:solidFill>
                <a:latin typeface="Arial"/>
                <a:ea typeface="Arial"/>
                <a:cs typeface="Arial"/>
              </a:rPr>
              <a:t>CET benchmark and the remaining articulation gap</a:t>
            </a:r>
          </a:p>
        </p:txBody>
      </p:sp>
      <p:sp>
        <p:nvSpPr>
          <p:cNvPr id="2" name="">
            <a:extLst xmlns:a="http://schemas.openxmlformats.org/drawingml/2006/main">
              <a:ext uri="{FF2B5EF4-FFF2-40B4-BE49-F238E27FC236}">
                <a16:creationId xmlns:a16="http://schemas.microsoft.com/office/drawing/2014/main" id="{3F87766F-F98E-47A0-9487-A8CCC799658F}"/>
              </a:ext>
            </a:extLst>
          </p:cNvPr>
          <p:cNvSpPr>
            <a:spLocks xmlns:a="http://schemas.openxmlformats.org/drawingml/2006/main" noGrp="1"/>
          </p:cNvSpPr>
          <p:nvPr/>
        </p:nvSpPr>
        <p:spPr>
          <a:xfrm xmlns:a="http://schemas.openxmlformats.org/drawingml/2006/main">
            <a:off x="619125" y="12001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F3D"/>
                </a:solidFill>
                <a:latin typeface="Arial"/>
                <a:ea typeface="Arial"/>
                <a:cs typeface="Arial"/>
              </a:defRPr>
            </a:pPr>
            <a:r>
              <a:rPr sz="2100" b="1">
                <a:solidFill>
                  <a:srgbClr val="182F3D"/>
                </a:solidFill>
                <a:latin typeface="Arial"/>
                <a:ea typeface="Arial"/>
                <a:cs typeface="Arial"/>
              </a:rPr>
              <a:t>Mean CET</a:t>
            </a:r>
          </a:p>
        </p:txBody>
      </p:sp>
      <p:sp>
        <p:nvSpPr>
          <p:cNvPr id="3" name="">
            <a:extLst xmlns:a="http://schemas.openxmlformats.org/drawingml/2006/main">
              <a:ext uri="{FF2B5EF4-FFF2-40B4-BE49-F238E27FC236}">
                <a16:creationId xmlns:a16="http://schemas.microsoft.com/office/drawing/2014/main" id="{D0F8A775-359A-4BAD-8DAA-0E6B6E1AF2F7}"/>
              </a:ext>
            </a:extLst>
          </p:cNvPr>
          <p:cNvSpPr>
            <a:spLocks xmlns:a="http://schemas.openxmlformats.org/drawingml/2006/main" noGrp="1"/>
          </p:cNvSpPr>
          <p:nvPr/>
        </p:nvSpPr>
        <p:spPr>
          <a:xfrm xmlns:a="http://schemas.openxmlformats.org/drawingml/2006/main">
            <a:off x="619125" y="159067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B96330"/>
                </a:solidFill>
                <a:latin typeface="Arial"/>
                <a:ea typeface="Arial"/>
                <a:cs typeface="Arial"/>
              </a:defRPr>
            </a:pPr>
            <a:r>
              <a:rPr sz="3450" b="1">
                <a:solidFill>
                  <a:srgbClr val="B96330"/>
                </a:solidFill>
                <a:latin typeface="Arial"/>
                <a:ea typeface="Arial"/>
                <a:cs typeface="Arial"/>
              </a:rPr>
              <a:t>9.97°</a:t>
            </a:r>
          </a:p>
        </p:txBody>
      </p:sp>
      <p:sp>
        <p:nvSpPr>
          <p:cNvPr id="4" name="">
            <a:extLst xmlns:a="http://schemas.openxmlformats.org/drawingml/2006/main">
              <a:ext uri="{FF2B5EF4-FFF2-40B4-BE49-F238E27FC236}">
                <a16:creationId xmlns:a16="http://schemas.microsoft.com/office/drawing/2014/main" id="{6E9AA11C-5CB4-4AA1-A706-D49A2785BFDA}"/>
              </a:ext>
            </a:extLst>
          </p:cNvPr>
          <p:cNvSpPr>
            <a:spLocks xmlns:a="http://schemas.openxmlformats.org/drawingml/2006/main" noGrp="1"/>
          </p:cNvSpPr>
          <p:nvPr/>
        </p:nvSpPr>
        <p:spPr>
          <a:xfrm xmlns:a="http://schemas.openxmlformats.org/drawingml/2006/main">
            <a:off x="619125" y="2200275"/>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F3D"/>
                </a:solidFill>
                <a:latin typeface="Arial"/>
                <a:ea typeface="Arial"/>
                <a:cs typeface="Arial"/>
              </a:defRPr>
            </a:pPr>
            <a:r>
              <a:rPr sz="1875" b="1">
                <a:solidFill>
                  <a:srgbClr val="182F3D"/>
                </a:solidFill>
                <a:latin typeface="Arial"/>
                <a:ea typeface="Arial"/>
                <a:cs typeface="Arial"/>
              </a:rPr>
              <a:t>About 30% of mean GT flexion magnitude</a:t>
            </a:r>
          </a:p>
        </p:txBody>
      </p:sp>
      <p:sp>
        <p:nvSpPr>
          <p:cNvPr id="5" name="">
            <a:extLst xmlns:a="http://schemas.openxmlformats.org/drawingml/2006/main">
              <a:ext uri="{FF2B5EF4-FFF2-40B4-BE49-F238E27FC236}">
                <a16:creationId xmlns:a16="http://schemas.microsoft.com/office/drawing/2014/main" id="{35141E24-7B5F-48F9-B8E3-F5827C582E10}"/>
              </a:ext>
            </a:extLst>
          </p:cNvPr>
          <p:cNvSpPr>
            <a:spLocks xmlns:a="http://schemas.openxmlformats.org/drawingml/2006/main" noGrp="1"/>
          </p:cNvSpPr>
          <p:nvPr/>
        </p:nvSpPr>
        <p:spPr>
          <a:xfrm xmlns:a="http://schemas.openxmlformats.org/drawingml/2006/main">
            <a:off x="6429375" y="120015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2F3D"/>
                </a:solidFill>
                <a:latin typeface="Arial"/>
                <a:ea typeface="Arial"/>
                <a:cs typeface="Arial"/>
              </a:defRPr>
            </a:pPr>
            <a:r>
              <a:rPr sz="2100" b="1">
                <a:solidFill>
                  <a:srgbClr val="182F3D"/>
                </a:solidFill>
                <a:latin typeface="Arial"/>
                <a:ea typeface="Arial"/>
                <a:cs typeface="Arial"/>
              </a:rPr>
              <a:t>Mean activity rate mismatch</a:t>
            </a:r>
          </a:p>
        </p:txBody>
      </p:sp>
      <p:sp>
        <p:nvSpPr>
          <p:cNvPr id="6" name="">
            <a:extLst xmlns:a="http://schemas.openxmlformats.org/drawingml/2006/main">
              <a:ext uri="{FF2B5EF4-FFF2-40B4-BE49-F238E27FC236}">
                <a16:creationId xmlns:a16="http://schemas.microsoft.com/office/drawing/2014/main" id="{A0B4A394-5821-4E5E-98EF-4F3CCB466BA6}"/>
              </a:ext>
            </a:extLst>
          </p:cNvPr>
          <p:cNvSpPr>
            <a:spLocks xmlns:a="http://schemas.openxmlformats.org/drawingml/2006/main" noGrp="1"/>
          </p:cNvSpPr>
          <p:nvPr/>
        </p:nvSpPr>
        <p:spPr>
          <a:xfrm xmlns:a="http://schemas.openxmlformats.org/drawingml/2006/main">
            <a:off x="6429375" y="1590675"/>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B96330"/>
                </a:solidFill>
                <a:latin typeface="Arial"/>
                <a:ea typeface="Arial"/>
                <a:cs typeface="Arial"/>
              </a:defRPr>
            </a:pPr>
            <a:r>
              <a:rPr sz="3450" b="1">
                <a:solidFill>
                  <a:srgbClr val="B96330"/>
                </a:solidFill>
                <a:latin typeface="Arial"/>
                <a:ea typeface="Arial"/>
                <a:cs typeface="Arial"/>
              </a:rPr>
              <a:t>1.98°/s</a:t>
            </a:r>
          </a:p>
        </p:txBody>
      </p:sp>
      <p:sp>
        <p:nvSpPr>
          <p:cNvPr id="7" name="">
            <a:extLst xmlns:a="http://schemas.openxmlformats.org/drawingml/2006/main">
              <a:ext uri="{FF2B5EF4-FFF2-40B4-BE49-F238E27FC236}">
                <a16:creationId xmlns:a16="http://schemas.microsoft.com/office/drawing/2014/main" id="{AA231DB2-46C4-451F-8A85-D61A0F052A0E}"/>
              </a:ext>
            </a:extLst>
          </p:cNvPr>
          <p:cNvSpPr>
            <a:spLocks xmlns:a="http://schemas.openxmlformats.org/drawingml/2006/main" noGrp="1"/>
          </p:cNvSpPr>
          <p:nvPr/>
        </p:nvSpPr>
        <p:spPr>
          <a:xfrm xmlns:a="http://schemas.openxmlformats.org/drawingml/2006/main">
            <a:off x="6429375" y="2200275"/>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F3D"/>
                </a:solidFill>
                <a:latin typeface="Arial"/>
                <a:ea typeface="Arial"/>
                <a:cs typeface="Arial"/>
              </a:defRPr>
            </a:pPr>
            <a:r>
              <a:rPr sz="1875" b="1">
                <a:solidFill>
                  <a:srgbClr val="182F3D"/>
                </a:solidFill>
                <a:latin typeface="Arial"/>
                <a:ea typeface="Arial"/>
                <a:cs typeface="Arial"/>
              </a:rPr>
              <a:t>Median output activity is 24% below GT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a5b7618f22c4c6e"/>
          <a:stretch xmlns:a="http://schemas.openxmlformats.org/drawingml/2006/main"/>
        </p:blipFill>
        <p:spPr>
          <a:xfrm xmlns:a="http://schemas.openxmlformats.org/drawingml/2006/main">
            <a:off x="1617443" y="2905125"/>
            <a:ext cx="8957115" cy="2524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9869964-7A63-402C-8E59-386C09E46B0B}"/>
              </a:ext>
            </a:extLst>
          </p:cNvPr>
          <p:cNvSpPr>
            <a:spLocks xmlns:a="http://schemas.openxmlformats.org/drawingml/2006/main" noGrp="1"/>
          </p:cNvSpPr>
          <p:nvPr/>
        </p:nvSpPr>
        <p:spPr>
          <a:xfrm xmlns:a="http://schemas.openxmlformats.org/drawingml/2006/main">
            <a:off x="619125" y="5553075"/>
            <a:ext cx="5334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B827E"/>
                </a:solidFill>
                <a:latin typeface="Arial"/>
                <a:ea typeface="Arial"/>
                <a:cs typeface="Arial"/>
              </a:defRPr>
            </a:pPr>
            <a:r>
              <a:rPr sz="2100" b="1">
                <a:solidFill>
                  <a:srgbClr val="1B827E"/>
                </a:solidFill>
                <a:latin typeface="Arial"/>
                <a:ea typeface="Arial"/>
                <a:cs typeface="Arial"/>
              </a:rPr>
              <a:t>Goal: reduce CET toward 0°</a:t>
            </a:r>
          </a:p>
        </p:txBody>
      </p:sp>
      <p:sp>
        <p:nvSpPr>
          <p:cNvPr id="10" name="">
            <a:extLst xmlns:a="http://schemas.openxmlformats.org/drawingml/2006/main">
              <a:ext uri="{FF2B5EF4-FFF2-40B4-BE49-F238E27FC236}">
                <a16:creationId xmlns:a16="http://schemas.microsoft.com/office/drawing/2014/main" id="{ADB871F0-E6E3-4CAE-8838-CE53D5171B18}"/>
              </a:ext>
            </a:extLst>
          </p:cNvPr>
          <p:cNvSpPr>
            <a:spLocks xmlns:a="http://schemas.openxmlformats.org/drawingml/2006/main" noGrp="1"/>
          </p:cNvSpPr>
          <p:nvPr/>
        </p:nvSpPr>
        <p:spPr>
          <a:xfrm xmlns:a="http://schemas.openxmlformats.org/drawingml/2006/main">
            <a:off x="6429375" y="555307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B827E"/>
                </a:solidFill>
                <a:latin typeface="Arial"/>
                <a:ea typeface="Arial"/>
                <a:cs typeface="Arial"/>
              </a:defRPr>
            </a:pPr>
            <a:r>
              <a:rPr sz="2100" b="1">
                <a:solidFill>
                  <a:srgbClr val="1B827E"/>
                </a:solidFill>
                <a:latin typeface="Arial"/>
                <a:ea typeface="Arial"/>
                <a:cs typeface="Arial"/>
              </a:rPr>
              <a:t>Goal: reduce the activity mismatch</a:t>
            </a:r>
          </a:p>
        </p:txBody>
      </p:sp>
      <p:sp>
        <p:nvSpPr>
          <p:cNvPr id="11" name="">
            <a:extLst xmlns:a="http://schemas.openxmlformats.org/drawingml/2006/main">
              <a:ext uri="{FF2B5EF4-FFF2-40B4-BE49-F238E27FC236}">
                <a16:creationId xmlns:a16="http://schemas.microsoft.com/office/drawing/2014/main" id="{262881EB-3019-487B-B62C-4983CDA6AFB7}"/>
              </a:ext>
            </a:extLst>
          </p:cNvPr>
          <p:cNvSpPr>
            <a:spLocks xmlns:a="http://schemas.openxmlformats.org/drawingml/2006/main" noGrp="1"/>
          </p:cNvSpPr>
          <p:nvPr/>
        </p:nvSpPr>
        <p:spPr>
          <a:xfrm xmlns:a="http://schemas.openxmlformats.org/drawingml/2006/main">
            <a:off x="619125" y="60388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F3D"/>
                </a:solidFill>
                <a:latin typeface="Arial"/>
                <a:ea typeface="Arial"/>
                <a:cs typeface="Arial"/>
              </a:defRPr>
            </a:pPr>
            <a:r>
              <a:rPr sz="1875" b="1">
                <a:solidFill>
                  <a:srgbClr val="182F3D"/>
                </a:solidFill>
                <a:latin typeface="Arial"/>
                <a:ea typeface="Arial"/>
                <a:cs typeface="Arial"/>
              </a:rPr>
              <a:t>Preserve the intended motion and interaction as both errors decrease.</a:t>
            </a:r>
          </a:p>
        </p:txBody>
      </p:sp>
      <p:sp>
        <p:nvSpPr>
          <p:cNvPr id="12" name="">
            <a:extLst xmlns:a="http://schemas.openxmlformats.org/drawingml/2006/main">
              <a:ext uri="{FF2B5EF4-FFF2-40B4-BE49-F238E27FC236}">
                <a16:creationId xmlns:a16="http://schemas.microsoft.com/office/drawing/2014/main" id="{9510EE5A-D80F-4E18-8E01-4CD6793B3A65}"/>
              </a:ext>
            </a:extLst>
          </p:cNvPr>
          <p:cNvSpPr>
            <a:spLocks xmlns:a="http://schemas.openxmlformats.org/drawingml/2006/main" noGrp="1"/>
          </p:cNvSpPr>
          <p:nvPr/>
        </p:nvSpPr>
        <p:spPr>
          <a:xfrm xmlns:a="http://schemas.openxmlformats.org/drawingml/2006/main">
            <a:off x="619125" y="64674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670"/>
                </a:solidFill>
                <a:latin typeface="Arial"/>
                <a:ea typeface="Arial"/>
                <a:cs typeface="Arial"/>
              </a:defRPr>
            </a:pPr>
            <a:r>
              <a:rPr sz="1350" b="0">
                <a:solidFill>
                  <a:srgbClr val="536670"/>
                </a:solidFill>
                <a:latin typeface="Arial"/>
                <a:ea typeface="Arial"/>
                <a:cs typeface="Arial"/>
              </a:rPr>
              <a:t>91 motions, partial batch. CET/depth is a ratio of batch means, not a percentage of movement lost.</a:t>
            </a:r>
          </a:p>
        </p:txBody>
      </p:sp>
    </p:spTree>
    <p:extLst>
      <p:ext uri="{BB962C8B-B14F-4D97-AF65-F5344CB8AC3E}">
        <p14:creationId xmlns:p14="http://schemas.microsoft.com/office/powerpoint/2010/main" val="5424636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2026-10-06T04:59:42.5290000Z</dcterms:created>
  <dcterms:modified xsi:type="dcterms:W3CDTF">2026-10-06T04:59:42.5290000Z</dcterms:modified>
</coreProperties>
</file>
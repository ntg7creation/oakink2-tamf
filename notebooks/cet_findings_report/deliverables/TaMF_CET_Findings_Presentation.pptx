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d7a34ea3cd4218" /><Relationship Type="http://schemas.openxmlformats.org/officeDocument/2006/relationships/extended-properties" Target="/docProps/app.xml" Id="R166e432640c14a22" /><Relationship Type="http://schemas.openxmlformats.org/officeDocument/2006/relationships/officeDocument" Target="/ppt/presentation.xml" Id="R17490afdace641b9" /></Relationships>
</file>

<file path=ppt/presentation.xml><?xml version="1.0" encoding="utf-8"?>
<p:presentation xmlns:p="http://schemas.openxmlformats.org/presentationml/2006/main">
  <p:sldMasterIdLst>
    <p:sldMasterId xmlns:r="http://schemas.openxmlformats.org/officeDocument/2006/relationships" id="2147483648" r:id="R17d238ec55b54e7b"/>
  </p:sldMasterIdLst>
  <p:notesMasterIdLst>
    <p:notesMasterId xmlns:r="http://schemas.openxmlformats.org/officeDocument/2006/relationships" r:id="R280e58797855485c"/>
  </p:notesMasterIdLst>
  <p:sldIdLst>
    <p:sldId xmlns:r="http://schemas.openxmlformats.org/officeDocument/2006/relationships" id="256" r:id="Rc295ef476c5b4964"/>
    <p:sldId xmlns:r="http://schemas.openxmlformats.org/officeDocument/2006/relationships" id="257" r:id="R940be076afb24a14"/>
    <p:sldId xmlns:r="http://schemas.openxmlformats.org/officeDocument/2006/relationships" id="258" r:id="Rd33904908dd7451d"/>
    <p:sldId xmlns:r="http://schemas.openxmlformats.org/officeDocument/2006/relationships" id="259" r:id="R08663cd5926a48fe"/>
    <p:sldId xmlns:r="http://schemas.openxmlformats.org/officeDocument/2006/relationships" id="260" r:id="Rd968c3cbc4354850"/>
    <p:sldId xmlns:r="http://schemas.openxmlformats.org/officeDocument/2006/relationships" id="261" r:id="Rb999e467367243ca"/>
    <p:sldId xmlns:r="http://schemas.openxmlformats.org/officeDocument/2006/relationships" id="262" r:id="R181b4dc15e4548d3"/>
    <p:sldId xmlns:r="http://schemas.openxmlformats.org/officeDocument/2006/relationships" id="263" r:id="Ra11b953885be49d6"/>
    <p:sldId xmlns:r="http://schemas.openxmlformats.org/officeDocument/2006/relationships" id="264" r:id="R540404a9908c4856"/>
    <p:sldId xmlns:r="http://schemas.openxmlformats.org/officeDocument/2006/relationships" id="265" r:id="R2beee32bfe1e4fa0"/>
    <p:sldId xmlns:r="http://schemas.openxmlformats.org/officeDocument/2006/relationships" id="266" r:id="R595660078d994a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1627f520374bc5" /><Relationship Type="http://schemas.openxmlformats.org/officeDocument/2006/relationships/slideMaster" Target="/ppt/slideMasters/slideMaster1.xml" Id="R17d238ec55b54e7b" /><Relationship Type="http://schemas.openxmlformats.org/officeDocument/2006/relationships/notesMaster" Target="/ppt/notesMasters/notesMaster1.xml" Id="R280e58797855485c" /><Relationship Type="http://schemas.openxmlformats.org/officeDocument/2006/relationships/presProps" Target="/ppt/presProps.xml" Id="Ra1db4a24f5c24cb5" /><Relationship Type="http://schemas.openxmlformats.org/officeDocument/2006/relationships/tableStyles" Target="/ppt/tableStyles.xml" Id="Rb85491827d204333" /><Relationship Type="http://schemas.openxmlformats.org/officeDocument/2006/relationships/slide" Target="/ppt/slides/slide1.xml" Id="Rc295ef476c5b4964" /><Relationship Type="http://schemas.openxmlformats.org/officeDocument/2006/relationships/slide" Target="/ppt/slides/slide2.xml" Id="R940be076afb24a14" /><Relationship Type="http://schemas.openxmlformats.org/officeDocument/2006/relationships/slide" Target="/ppt/slides/slide3.xml" Id="Rd33904908dd7451d" /><Relationship Type="http://schemas.openxmlformats.org/officeDocument/2006/relationships/slide" Target="/ppt/slides/slide4.xml" Id="R08663cd5926a48fe" /><Relationship Type="http://schemas.openxmlformats.org/officeDocument/2006/relationships/slide" Target="/ppt/slides/slide5.xml" Id="Rd968c3cbc4354850" /><Relationship Type="http://schemas.openxmlformats.org/officeDocument/2006/relationships/slide" Target="/ppt/slides/slide6.xml" Id="Rb999e467367243ca" /><Relationship Type="http://schemas.openxmlformats.org/officeDocument/2006/relationships/slide" Target="/ppt/slides/slide7.xml" Id="R181b4dc15e4548d3" /><Relationship Type="http://schemas.openxmlformats.org/officeDocument/2006/relationships/slide" Target="/ppt/slides/slide8.xml" Id="Ra11b953885be49d6" /><Relationship Type="http://schemas.openxmlformats.org/officeDocument/2006/relationships/slide" Target="/ppt/slides/slide9.xml" Id="R540404a9908c4856" /><Relationship Type="http://schemas.openxmlformats.org/officeDocument/2006/relationships/slide" Target="/ppt/slides/slide10.xml" Id="R2beee32bfe1e4fa0" /><Relationship Type="http://schemas.openxmlformats.org/officeDocument/2006/relationships/slide" Target="/ppt/slides/slide11.xml" Id="R595660078d994a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31de4d1edb48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0194b7efbc4d4e" /><Relationship Type="http://schemas.openxmlformats.org/officeDocument/2006/relationships/notesMaster" Target="/ppt/notesMasters/notesMaster1.xml" Id="R6f31a2c980aa4a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bbcd9c6f7b49ba" /><Relationship Type="http://schemas.openxmlformats.org/officeDocument/2006/relationships/notesMaster" Target="/ppt/notesMasters/notesMaster1.xml" Id="Rcc90d29b6f1146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7b35af0d4047d7" /><Relationship Type="http://schemas.openxmlformats.org/officeDocument/2006/relationships/notesMaster" Target="/ppt/notesMasters/notesMaster1.xml" Id="R122ea3ed6e3f4f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5f3c9dd9da4f8b" /><Relationship Type="http://schemas.openxmlformats.org/officeDocument/2006/relationships/notesMaster" Target="/ppt/notesMasters/notesMaster1.xml" Id="Rac49c80c99d04f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d6ce4c217e4d0e" /><Relationship Type="http://schemas.openxmlformats.org/officeDocument/2006/relationships/notesMaster" Target="/ppt/notesMasters/notesMaster1.xml" Id="Rc43d73f311fa4f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6e82be8d29467f" /><Relationship Type="http://schemas.openxmlformats.org/officeDocument/2006/relationships/notesMaster" Target="/ppt/notesMasters/notesMaster1.xml" Id="Rb91bc7e6dc7b4d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e7b890591343de" /><Relationship Type="http://schemas.openxmlformats.org/officeDocument/2006/relationships/notesMaster" Target="/ppt/notesMasters/notesMaster1.xml" Id="Rad6aad28426448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899bc5df6948ad" /><Relationship Type="http://schemas.openxmlformats.org/officeDocument/2006/relationships/notesMaster" Target="/ppt/notesMasters/notesMaster1.xml" Id="R17e51261861446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8bc18c2c9648c6" /><Relationship Type="http://schemas.openxmlformats.org/officeDocument/2006/relationships/notesMaster" Target="/ppt/notesMasters/notesMaster1.xml" Id="R0ce0ee51b80b45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2919ac15bf4047" /><Relationship Type="http://schemas.openxmlformats.org/officeDocument/2006/relationships/notesMaster" Target="/ppt/notesMasters/notesMaster1.xml" Id="R49bcdd9f9f6c45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1d2469c206467d" /><Relationship Type="http://schemas.openxmlformats.org/officeDocument/2006/relationships/notesMaster" Target="/ppt/notesMasters/notesMaster1.xml" Id="Rd77425b7b3264b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Final output is the saved R-stage, decoded from refine_pose_repr. No stage comparison is made. Angle extraction is signed anatomical Z bend in the fixed manotorch XYZ template. The DTW cumulative cost is minimized, then divided by recovered path 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Mean 9.9659599849, median 9.1236063446, population SD 4.3553554557. P25 7.1055740615, P75 11.7408788114, P90 14.8466470749, P95 17.8500726124. 53/91 below 10 degrees.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Finger means thumb 8.7361,index 9.5797,middle 9.4419,ring 10.0191,little 12.0530. Pinky largest in 32/91. Joint means pinky MCP15.0669,PIP13.4014,middle MCP13.2461. Anatomy mapping: thumb CMC/MCP/IP, others MCP/PIP/DIP.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GT descriptors are mean of joint statistics. Depth r=.1475; range r=-.1485; accumulated activity r=-.2966; activity rate r=.5068. Correlations descriptive; shared sequences and duration confound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Description: Close the gate of the microwave oven. Right hand. Duration4.6s,GT depth33.71765,range46.56041,totalvariation85.79155,rate18.65034,CET17.32647. Ring MCP24.277 and middle MCP24.086 are largest. Curves show the two largest-error joints on saved shared DTW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Description: Pour the juice from the tall blue mug to the bowl. Right hand. GT depth50.681449,range37.378644,totalvariation128.392104,rate7.746130,CET5.312834. Index CET7.216429; top joints index MCP8.048,index DIP7.269.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Description: Press the button on the microwave oven. Left hand. CET32.341098,GT depth46.771988,range2.270984,totalvariation3.070586,duration.225s,rate13.64705. Ring CET55.082,pinky54.142. Pinky MCP74.968,PIP67.063. High rate is affected by very short duration.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Description: Pour the seasonings from the green striped bottle to the fryingpan. Right hand. CET17.535558. Thumb CET28.829760; index24.983991;pinky9.259491. Thumb IP55.853. Additional ratio pinky CET9.2594913465 / GT mean absolute flexion46.0690289077 =20.099168%. Both degrees, same three joints but DTW vs original frame time weighting. This is not percent motion lost.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Reused notebook export019 with simplified titles. 74 of91 predictions have lower whole-hand mean joint total angular variation than reference. Median per-motion pred/GT ratio .7580658323. Sampling, duration, smoothing and noise affect these descriptors.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final-output run common/partial_batch/test_one__0399/cet/20261006T015545971089Z, motions.json and arrays/*.npz. Analysis and formulas: Scripts/evaluate_cet.py and Scripts/CET.md. All 91 saved CET values reproduced from the saved DTW paths. Partial batch of 20 source sequences, not the complete OakInk2 test set. No conventional metric values were compared here; the claim that broader evaluation may leave articulation unresolved is a motivation, not an empirical head-to-head result. No causal attribution of anatomy or correlation is possible in this partial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a1930bc29a44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87c8cc80f94ec4" /><Relationship Type="http://schemas.openxmlformats.org/officeDocument/2006/relationships/slideLayout" Target="/ppt/slideLayouts/slideLayout1.xml" Id="R065ae97d14ae4c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5ae97d14ae4c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72bee06c12437c" /><Relationship Type="http://schemas.openxmlformats.org/officeDocument/2006/relationships/notesSlide" Target="/ppt/notesSlides/notesSlide1.xml" Id="R1d99ee4a2a8b4c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51d9c0a3ef4666" /><Relationship Type="http://schemas.openxmlformats.org/officeDocument/2006/relationships/notesSlide" Target="/ppt/notesSlides/notesSlide2.xml" Id="Rcb7ac347f2b04d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e6ead475384e79" /><Relationship Type="http://schemas.openxmlformats.org/officeDocument/2006/relationships/image" Target="/ppt/media/image.png" Id="R2b49280e2a9b450d" /><Relationship Type="http://schemas.openxmlformats.org/officeDocument/2006/relationships/notesSlide" Target="/ppt/notesSlides/notesSlide3.xml" Id="Ra3b096fa750a49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7f5a287b8145fe" /><Relationship Type="http://schemas.openxmlformats.org/officeDocument/2006/relationships/image" Target="/ppt/media/image2.png" Id="Rf6e3f12ed0b84d26" /><Relationship Type="http://schemas.openxmlformats.org/officeDocument/2006/relationships/notesSlide" Target="/ppt/notesSlides/notesSlide4.xml" Id="Re08fc59f1a7a4f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939771aa87402d" /><Relationship Type="http://schemas.openxmlformats.org/officeDocument/2006/relationships/image" Target="/ppt/media/image3.png" Id="R71c076f2dee54e34" /><Relationship Type="http://schemas.openxmlformats.org/officeDocument/2006/relationships/notesSlide" Target="/ppt/notesSlides/notesSlide5.xml" Id="R9013a4174e1543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d51ee6311d479f" /><Relationship Type="http://schemas.openxmlformats.org/officeDocument/2006/relationships/image" Target="/ppt/media/image4.png" Id="R84ea5f4e018f4a18" /><Relationship Type="http://schemas.openxmlformats.org/officeDocument/2006/relationships/notesSlide" Target="/ppt/notesSlides/notesSlide6.xml" Id="Rf167fb4df4e347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4d5b45d87e4567" /><Relationship Type="http://schemas.openxmlformats.org/officeDocument/2006/relationships/image" Target="/ppt/media/image5.png" Id="R5c0582950ce649e1" /><Relationship Type="http://schemas.openxmlformats.org/officeDocument/2006/relationships/notesSlide" Target="/ppt/notesSlides/notesSlide7.xml" Id="R34728ae2753940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bde77819954d0f" /><Relationship Type="http://schemas.openxmlformats.org/officeDocument/2006/relationships/image" Target="/ppt/media/image6.png" Id="Rac14047a8089465c" /><Relationship Type="http://schemas.openxmlformats.org/officeDocument/2006/relationships/notesSlide" Target="/ppt/notesSlides/notesSlide8.xml" Id="Rd0d4c0a5a41344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8176dc97014308" /><Relationship Type="http://schemas.openxmlformats.org/officeDocument/2006/relationships/image" Target="/ppt/media/image7.png" Id="R6eec62129e8f41e8" /><Relationship Type="http://schemas.openxmlformats.org/officeDocument/2006/relationships/notesSlide" Target="/ppt/notesSlides/notesSlide9.xml" Id="R0ed61a30a59d4e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0cbc348df24242" /><Relationship Type="http://schemas.openxmlformats.org/officeDocument/2006/relationships/image" Target="/ppt/media/image8.png" Id="R7ebb1f86ade3470f" /><Relationship Type="http://schemas.openxmlformats.org/officeDocument/2006/relationships/notesSlide" Target="/ppt/notesSlides/notesSlide10.xml" Id="Rdf503fd4a4dc45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eace99ed8941e2" /><Relationship Type="http://schemas.openxmlformats.org/officeDocument/2006/relationships/notesSlide" Target="/ppt/notesSlides/notesSlide11.xml" Id="Rf6778589cd35463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857C8A-294C-4183-BF81-0D81A427E242}"/>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Finger articulation in TaMF</a:t>
            </a:r>
          </a:p>
        </p:txBody>
      </p:sp>
      <p:sp>
        <p:nvSpPr>
          <p:cNvPr id="2" name="">
            <a:extLst xmlns:a="http://schemas.openxmlformats.org/drawingml/2006/main">
              <a:ext uri="{FF2B5EF4-FFF2-40B4-BE49-F238E27FC236}">
                <a16:creationId xmlns:a16="http://schemas.microsoft.com/office/drawing/2014/main" id="{65351F1A-2311-4D40-A621-CA21B4B41B5F}"/>
              </a:ext>
            </a:extLst>
          </p:cNvPr>
          <p:cNvSpPr>
            <a:spLocks xmlns:a="http://schemas.openxmlformats.org/drawingml/2006/main" noGrp="1"/>
          </p:cNvSpPr>
          <p:nvPr/>
        </p:nvSpPr>
        <p:spPr>
          <a:xfrm xmlns:a="http://schemas.openxmlformats.org/drawingml/2006/main">
            <a:off x="619125" y="1466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F3D"/>
                </a:solidFill>
                <a:latin typeface="Arial"/>
                <a:ea typeface="Arial"/>
                <a:cs typeface="Arial"/>
              </a:defRPr>
            </a:pPr>
            <a:r>
              <a:rPr sz="3600" b="1">
                <a:solidFill>
                  <a:srgbClr val="182F3D"/>
                </a:solidFill>
                <a:latin typeface="Arial"/>
                <a:ea typeface="Arial"/>
                <a:cs typeface="Arial"/>
              </a:rPr>
              <a:t>Research findings from CET</a:t>
            </a:r>
          </a:p>
        </p:txBody>
      </p:sp>
      <p:sp>
        <p:nvSpPr>
          <p:cNvPr id="3" name="">
            <a:extLst xmlns:a="http://schemas.openxmlformats.org/drawingml/2006/main">
              <a:ext uri="{FF2B5EF4-FFF2-40B4-BE49-F238E27FC236}">
                <a16:creationId xmlns:a16="http://schemas.microsoft.com/office/drawing/2014/main" id="{1854D769-D0FB-4263-9479-EA9A9C06943C}"/>
              </a:ext>
            </a:extLst>
          </p:cNvPr>
          <p:cNvSpPr>
            <a:spLocks xmlns:a="http://schemas.openxmlformats.org/drawingml/2006/main" noGrp="1"/>
          </p:cNvSpPr>
          <p:nvPr/>
        </p:nvSpPr>
        <p:spPr>
          <a:xfrm xmlns:a="http://schemas.openxmlformats.org/drawingml/2006/main">
            <a:off x="619125" y="23622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B827E"/>
                </a:solidFill>
                <a:latin typeface="Arial"/>
                <a:ea typeface="Arial"/>
                <a:cs typeface="Arial"/>
              </a:defRPr>
            </a:pPr>
            <a:r>
              <a:rPr sz="2250" b="0">
                <a:solidFill>
                  <a:srgbClr val="1B827E"/>
                </a:solidFill>
                <a:latin typeface="Arial"/>
                <a:ea typeface="Arial"/>
                <a:cs typeface="Arial"/>
              </a:rPr>
              <a:t>Curl Error with Time Alignment</a:t>
            </a:r>
          </a:p>
        </p:txBody>
      </p:sp>
      <p:sp>
        <p:nvSpPr>
          <p:cNvPr id="4" name="">
            <a:extLst xmlns:a="http://schemas.openxmlformats.org/drawingml/2006/main">
              <a:ext uri="{FF2B5EF4-FFF2-40B4-BE49-F238E27FC236}">
                <a16:creationId xmlns:a16="http://schemas.microsoft.com/office/drawing/2014/main" id="{26AEF306-42FD-46C4-87AD-3F5B158F9044}"/>
              </a:ext>
            </a:extLst>
          </p:cNvPr>
          <p:cNvSpPr>
            <a:spLocks xmlns:a="http://schemas.openxmlformats.org/drawingml/2006/main" noGrp="1"/>
          </p:cNvSpPr>
          <p:nvPr/>
        </p:nvSpPr>
        <p:spPr>
          <a:xfrm xmlns:a="http://schemas.openxmlformats.org/drawingml/2006/main">
            <a:off x="619125" y="3476625"/>
            <a:ext cx="1019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F3D"/>
                </a:solidFill>
                <a:latin typeface="Arial"/>
                <a:ea typeface="Arial"/>
                <a:cs typeface="Arial"/>
              </a:defRPr>
            </a:pPr>
            <a:r>
              <a:rPr sz="2400" b="0">
                <a:solidFill>
                  <a:srgbClr val="182F3D"/>
                </a:solidFill>
                <a:latin typeface="Arial"/>
                <a:ea typeface="Arial"/>
                <a:cs typeface="Arial"/>
              </a:rPr>
              <a:t>91 unique hand-motion segments</a:t>
            </a:r>
          </a:p>
          <a:p xmlns:a="http://schemas.openxmlformats.org/drawingml/2006/main">
            <a:pPr>
              <a:defRPr sz="2400" b="0">
                <a:solidFill>
                  <a:srgbClr val="182F3D"/>
                </a:solidFill>
                <a:latin typeface="Arial"/>
                <a:ea typeface="Arial"/>
                <a:cs typeface="Arial"/>
              </a:defRPr>
            </a:pPr>
            <a:r>
              <a:rPr sz="2400" b="0">
                <a:solidFill>
                  <a:srgbClr val="182F3D"/>
                </a:solidFill>
                <a:latin typeface="Arial"/>
                <a:ea typeface="Arial"/>
                <a:cs typeface="Arial"/>
              </a:rPr>
              <a:t>Mean CET 9.97°   •   Median 9.12°</a:t>
            </a:r>
          </a:p>
        </p:txBody>
      </p:sp>
      <p:sp>
        <p:nvSpPr>
          <p:cNvPr id="5" name="">
            <a:extLst xmlns:a="http://schemas.openxmlformats.org/drawingml/2006/main">
              <a:ext uri="{FF2B5EF4-FFF2-40B4-BE49-F238E27FC236}">
                <a16:creationId xmlns:a16="http://schemas.microsoft.com/office/drawing/2014/main" id="{ADC671A2-76A8-497F-8131-57D8E7A725FB}"/>
              </a:ext>
            </a:extLst>
          </p:cNvPr>
          <p:cNvSpPr>
            <a:spLocks xmlns:a="http://schemas.openxmlformats.org/drawingml/2006/main" noGrp="1"/>
          </p:cNvSpPr>
          <p:nvPr/>
        </p:nvSpPr>
        <p:spPr>
          <a:xfrm xmlns:a="http://schemas.openxmlformats.org/drawingml/2006/main">
            <a:off x="619125" y="50196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F3D"/>
                </a:solidFill>
                <a:latin typeface="Arial"/>
                <a:ea typeface="Arial"/>
                <a:cs typeface="Arial"/>
              </a:defRPr>
            </a:pPr>
            <a:r>
              <a:rPr sz="2100" b="1">
                <a:solidFill>
                  <a:srgbClr val="182F3D"/>
                </a:solidFill>
                <a:latin typeface="Arial"/>
                <a:ea typeface="Arial"/>
                <a:cs typeface="Arial"/>
              </a:rPr>
              <a:t>Thesis objective</a:t>
            </a:r>
          </a:p>
          <a:p xmlns:a="http://schemas.openxmlformats.org/drawingml/2006/main">
            <a:pPr>
              <a:defRPr sz="2100" b="1">
                <a:solidFill>
                  <a:srgbClr val="182F3D"/>
                </a:solidFill>
                <a:latin typeface="Arial"/>
                <a:ea typeface="Arial"/>
                <a:cs typeface="Arial"/>
              </a:defRPr>
            </a:pPr>
            <a:r>
              <a:rPr sz="2100" b="1">
                <a:solidFill>
                  <a:srgbClr val="182F3D"/>
                </a:solidFill>
                <a:latin typeface="Arial"/>
                <a:ea typeface="Arial"/>
                <a:cs typeface="Arial"/>
              </a:rPr>
              <a:t>Reduce finger-flexion error while preserving the intended interaction.</a:t>
            </a:r>
          </a:p>
        </p:txBody>
      </p:sp>
      <p:sp>
        <p:nvSpPr>
          <p:cNvPr id="6" name="">
            <a:extLst xmlns:a="http://schemas.openxmlformats.org/drawingml/2006/main">
              <a:ext uri="{FF2B5EF4-FFF2-40B4-BE49-F238E27FC236}">
                <a16:creationId xmlns:a16="http://schemas.microsoft.com/office/drawing/2014/main" id="{77B395C0-1861-4342-B171-18A052FC181D}"/>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Partial OakInk2 evaluation batch  /  Research meeting  /  6 October 2026</a:t>
            </a:r>
          </a:p>
        </p:txBody>
      </p:sp>
    </p:spTree>
    <p:extLst>
      <p:ext uri="{BB962C8B-B14F-4D97-AF65-F5344CB8AC3E}">
        <p14:creationId xmlns:p14="http://schemas.microsoft.com/office/powerpoint/2010/main" val="19007273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A4D324-24A6-43C6-B69B-3888EA620AE3}"/>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CET isolates finger-flexion disagreement</a:t>
            </a:r>
          </a:p>
        </p:txBody>
      </p:sp>
      <p:sp>
        <p:nvSpPr>
          <p:cNvPr id="2" name="">
            <a:extLst xmlns:a="http://schemas.openxmlformats.org/drawingml/2006/main">
              <a:ext uri="{FF2B5EF4-FFF2-40B4-BE49-F238E27FC236}">
                <a16:creationId xmlns:a16="http://schemas.microsoft.com/office/drawing/2014/main" id="{3C0D31B5-3F4A-41B5-BBF0-D754DE4F13C5}"/>
              </a:ext>
            </a:extLst>
          </p:cNvPr>
          <p:cNvSpPr>
            <a:spLocks xmlns:a="http://schemas.openxmlformats.org/drawingml/2006/main" noGrp="1"/>
          </p:cNvSpPr>
          <p:nvPr/>
        </p:nvSpPr>
        <p:spPr>
          <a:xfrm xmlns:a="http://schemas.openxmlformats.org/drawingml/2006/main">
            <a:off x="619125" y="14954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2F3D"/>
                </a:solidFill>
                <a:latin typeface="Arial"/>
                <a:ea typeface="Arial"/>
                <a:cs typeface="Arial"/>
              </a:defRPr>
            </a:pPr>
            <a:r>
              <a:rPr sz="2325" b="1">
                <a:solidFill>
                  <a:srgbClr val="182F3D"/>
                </a:solidFill>
                <a:latin typeface="Arial"/>
                <a:ea typeface="Arial"/>
                <a:cs typeface="Arial"/>
              </a:rPr>
              <a:t>Reference and predicted hand poses</a:t>
            </a:r>
          </a:p>
        </p:txBody>
      </p:sp>
      <p:sp>
        <p:nvSpPr>
          <p:cNvPr id="3" name="">
            <a:extLst xmlns:a="http://schemas.openxmlformats.org/drawingml/2006/main">
              <a:ext uri="{FF2B5EF4-FFF2-40B4-BE49-F238E27FC236}">
                <a16:creationId xmlns:a16="http://schemas.microsoft.com/office/drawing/2014/main" id="{0E4E8430-AB10-4AA2-A5D2-E6E140DD7C22}"/>
              </a:ext>
            </a:extLst>
          </p:cNvPr>
          <p:cNvSpPr>
            <a:spLocks xmlns:a="http://schemas.openxmlformats.org/drawingml/2006/main" noGrp="1"/>
          </p:cNvSpPr>
          <p:nvPr/>
        </p:nvSpPr>
        <p:spPr>
          <a:xfrm xmlns:a="http://schemas.openxmlformats.org/drawingml/2006/main">
            <a:off x="619125" y="21336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F3D"/>
                </a:solidFill>
                <a:latin typeface="Arial"/>
                <a:ea typeface="Arial"/>
                <a:cs typeface="Arial"/>
              </a:defRPr>
            </a:pPr>
            <a:r>
              <a:rPr sz="2175" b="0">
                <a:solidFill>
                  <a:srgbClr val="182F3D"/>
                </a:solidFill>
                <a:latin typeface="Arial"/>
                <a:ea typeface="Arial"/>
                <a:cs typeface="Arial"/>
              </a:rPr>
              <a:t>15 signed anatomical bend angles per frame</a:t>
            </a:r>
          </a:p>
        </p:txBody>
      </p:sp>
      <p:sp>
        <p:nvSpPr>
          <p:cNvPr id="4" name="">
            <a:extLst xmlns:a="http://schemas.openxmlformats.org/drawingml/2006/main">
              <a:ext uri="{FF2B5EF4-FFF2-40B4-BE49-F238E27FC236}">
                <a16:creationId xmlns:a16="http://schemas.microsoft.com/office/drawing/2014/main" id="{79BEC796-3A8A-47B8-877F-B7B4F8D8E661}"/>
              </a:ext>
            </a:extLst>
          </p:cNvPr>
          <p:cNvSpPr>
            <a:spLocks xmlns:a="http://schemas.openxmlformats.org/drawingml/2006/main" noGrp="1"/>
          </p:cNvSpPr>
          <p:nvPr/>
        </p:nvSpPr>
        <p:spPr>
          <a:xfrm xmlns:a="http://schemas.openxmlformats.org/drawingml/2006/main">
            <a:off x="619125" y="27717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F3D"/>
                </a:solidFill>
                <a:latin typeface="Arial"/>
                <a:ea typeface="Arial"/>
                <a:cs typeface="Arial"/>
              </a:defRPr>
            </a:pPr>
            <a:r>
              <a:rPr sz="2175" b="0">
                <a:solidFill>
                  <a:srgbClr val="182F3D"/>
                </a:solidFill>
                <a:latin typeface="Arial"/>
                <a:ea typeface="Arial"/>
                <a:cs typeface="Arial"/>
              </a:rPr>
              <a:t>One shared DTW path, allowing up to 10% timing displacement</a:t>
            </a:r>
          </a:p>
        </p:txBody>
      </p:sp>
      <p:sp>
        <p:nvSpPr>
          <p:cNvPr id="5" name="">
            <a:extLst xmlns:a="http://schemas.openxmlformats.org/drawingml/2006/main">
              <a:ext uri="{FF2B5EF4-FFF2-40B4-BE49-F238E27FC236}">
                <a16:creationId xmlns:a16="http://schemas.microsoft.com/office/drawing/2014/main" id="{0A5E33B4-1086-47AD-98A1-ACF5A520D25B}"/>
              </a:ext>
            </a:extLst>
          </p:cNvPr>
          <p:cNvSpPr>
            <a:spLocks xmlns:a="http://schemas.openxmlformats.org/drawingml/2006/main" noGrp="1"/>
          </p:cNvSpPr>
          <p:nvPr/>
        </p:nvSpPr>
        <p:spPr>
          <a:xfrm xmlns:a="http://schemas.openxmlformats.org/drawingml/2006/main">
            <a:off x="619125" y="37052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B827E"/>
                </a:solidFill>
                <a:latin typeface="Arial"/>
                <a:ea typeface="Arial"/>
                <a:cs typeface="Arial"/>
              </a:defRPr>
            </a:pPr>
            <a:r>
              <a:rPr sz="2475" b="1">
                <a:solidFill>
                  <a:srgbClr val="1B827E"/>
                </a:solidFill>
                <a:latin typeface="Arial"/>
                <a:ea typeface="Arial"/>
                <a:cs typeface="Arial"/>
              </a:rPr>
              <a:t>CET = mean absolute angle difference along that path</a:t>
            </a:r>
          </a:p>
        </p:txBody>
      </p:sp>
      <p:sp>
        <p:nvSpPr>
          <p:cNvPr id="6" name="">
            <a:extLst xmlns:a="http://schemas.openxmlformats.org/drawingml/2006/main">
              <a:ext uri="{FF2B5EF4-FFF2-40B4-BE49-F238E27FC236}">
                <a16:creationId xmlns:a16="http://schemas.microsoft.com/office/drawing/2014/main" id="{F2C833C0-105B-42B9-AFFE-B3F183288856}"/>
              </a:ext>
            </a:extLst>
          </p:cNvPr>
          <p:cNvSpPr>
            <a:spLocks xmlns:a="http://schemas.openxmlformats.org/drawingml/2006/main" noGrp="1"/>
          </p:cNvSpPr>
          <p:nvPr/>
        </p:nvSpPr>
        <p:spPr>
          <a:xfrm xmlns:a="http://schemas.openxmlformats.org/drawingml/2006/main">
            <a:off x="619125" y="45624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F3D"/>
                </a:solidFill>
                <a:latin typeface="Arial"/>
                <a:ea typeface="Arial"/>
                <a:cs typeface="Arial"/>
              </a:defRPr>
            </a:pPr>
            <a:r>
              <a:rPr sz="2175" b="0">
                <a:solidFill>
                  <a:srgbClr val="182F3D"/>
                </a:solidFill>
                <a:latin typeface="Arial"/>
                <a:ea typeface="Arial"/>
                <a:cs typeface="Arial"/>
              </a:rPr>
              <a:t>0° = perfect aligned agreement. Lower is better.</a:t>
            </a:r>
          </a:p>
        </p:txBody>
      </p:sp>
      <p:sp>
        <p:nvSpPr>
          <p:cNvPr id="7" name="">
            <a:extLst xmlns:a="http://schemas.openxmlformats.org/drawingml/2006/main">
              <a:ext uri="{FF2B5EF4-FFF2-40B4-BE49-F238E27FC236}">
                <a16:creationId xmlns:a16="http://schemas.microsoft.com/office/drawing/2014/main" id="{A219C61B-9517-4263-9534-7BDCE6AE8C59}"/>
              </a:ext>
            </a:extLst>
          </p:cNvPr>
          <p:cNvSpPr>
            <a:spLocks xmlns:a="http://schemas.openxmlformats.org/drawingml/2006/main" noGrp="1"/>
          </p:cNvSpPr>
          <p:nvPr/>
        </p:nvSpPr>
        <p:spPr>
          <a:xfrm xmlns:a="http://schemas.openxmlformats.org/drawingml/2006/main">
            <a:off x="619125" y="528637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2F3D"/>
                </a:solidFill>
                <a:latin typeface="Arial"/>
                <a:ea typeface="Arial"/>
                <a:cs typeface="Arial"/>
              </a:defRPr>
            </a:pPr>
            <a:r>
              <a:rPr sz="1875" b="0">
                <a:solidFill>
                  <a:srgbClr val="182F3D"/>
                </a:solidFill>
                <a:latin typeface="Arial"/>
                <a:ea typeface="Arial"/>
                <a:cs typeface="Arial"/>
              </a:rPr>
              <a:t>Wrist translation and root rotation are excluded.</a:t>
            </a:r>
          </a:p>
          <a:p xmlns:a="http://schemas.openxmlformats.org/drawingml/2006/main">
            <a:pPr>
              <a:defRPr sz="1875" b="0">
                <a:solidFill>
                  <a:srgbClr val="182F3D"/>
                </a:solidFill>
                <a:latin typeface="Arial"/>
                <a:ea typeface="Arial"/>
                <a:cs typeface="Arial"/>
              </a:defRPr>
            </a:pPr>
            <a:r>
              <a:rPr sz="1875" b="0">
                <a:solidFill>
                  <a:srgbClr val="182F3D"/>
                </a:solidFill>
                <a:latin typeface="Arial"/>
                <a:ea typeface="Arial"/>
                <a:cs typeface="Arial"/>
              </a:rPr>
              <a:t>Contact, action fidelity and full thumb opposition require other checks.</a:t>
            </a:r>
          </a:p>
        </p:txBody>
      </p:sp>
      <p:sp>
        <p:nvSpPr>
          <p:cNvPr id="8" name="">
            <a:extLst xmlns:a="http://schemas.openxmlformats.org/drawingml/2006/main">
              <a:ext uri="{FF2B5EF4-FFF2-40B4-BE49-F238E27FC236}">
                <a16:creationId xmlns:a16="http://schemas.microsoft.com/office/drawing/2014/main" id="{ED36ACF1-7334-49D3-9442-7050E22F634E}"/>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Equal weight for 15 joints and for each unique motion. Saved samples, no resampling.</a:t>
            </a:r>
          </a:p>
        </p:txBody>
      </p:sp>
    </p:spTree>
    <p:extLst>
      <p:ext uri="{BB962C8B-B14F-4D97-AF65-F5344CB8AC3E}">
        <p14:creationId xmlns:p14="http://schemas.microsoft.com/office/powerpoint/2010/main" val="17052316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C6C22A-91C0-447B-8FE5-481EA01BBD24}"/>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Typical error is near 9° with a substantial tail</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b49280e2a9b450d"/>
          <a:stretch xmlns:a="http://schemas.openxmlformats.org/drawingml/2006/main"/>
        </p:blipFill>
        <p:spPr>
          <a:xfrm xmlns:a="http://schemas.openxmlformats.org/drawingml/2006/main">
            <a:off x="920851" y="1181100"/>
            <a:ext cx="6635547"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A34D85D-F58E-40B1-AA13-D83FCA0237F5}"/>
              </a:ext>
            </a:extLst>
          </p:cNvPr>
          <p:cNvSpPr>
            <a:spLocks xmlns:a="http://schemas.openxmlformats.org/drawingml/2006/main" noGrp="1"/>
          </p:cNvSpPr>
          <p:nvPr/>
        </p:nvSpPr>
        <p:spPr>
          <a:xfrm xmlns:a="http://schemas.openxmlformats.org/drawingml/2006/main">
            <a:off x="8334375" y="1581150"/>
            <a:ext cx="319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F3D"/>
                </a:solidFill>
                <a:latin typeface="Arial"/>
                <a:ea typeface="Arial"/>
                <a:cs typeface="Arial"/>
              </a:defRPr>
            </a:pPr>
            <a:r>
              <a:rPr sz="2250" b="1">
                <a:solidFill>
                  <a:srgbClr val="182F3D"/>
                </a:solidFill>
                <a:latin typeface="Arial"/>
                <a:ea typeface="Arial"/>
                <a:cs typeface="Arial"/>
              </a:rPr>
              <a:t>9.97° mean</a:t>
            </a:r>
          </a:p>
          <a:p xmlns:a="http://schemas.openxmlformats.org/drawingml/2006/main">
            <a:pPr>
              <a:defRPr sz="2250" b="1">
                <a:solidFill>
                  <a:srgbClr val="182F3D"/>
                </a:solidFill>
                <a:latin typeface="Arial"/>
                <a:ea typeface="Arial"/>
                <a:cs typeface="Arial"/>
              </a:defRPr>
            </a:pPr>
            <a:r>
              <a:rPr sz="2250" b="1">
                <a:solidFill>
                  <a:srgbClr val="182F3D"/>
                </a:solidFill>
                <a:latin typeface="Arial"/>
                <a:ea typeface="Arial"/>
                <a:cs typeface="Arial"/>
              </a:rPr>
              <a:t>9.12° median</a:t>
            </a:r>
          </a:p>
          <a:p xmlns:a="http://schemas.openxmlformats.org/drawingml/2006/main">
            <a:pPr>
              <a:defRPr sz="2250" b="1">
                <a:solidFill>
                  <a:srgbClr val="182F3D"/>
                </a:solidFill>
                <a:latin typeface="Arial"/>
                <a:ea typeface="Arial"/>
                <a:cs typeface="Arial"/>
              </a:defRPr>
            </a:pPr>
            <a:r>
              <a:rPr sz="2250" b="1">
                <a:solidFill>
                  <a:srgbClr val="182F3D"/>
                </a:solidFill>
                <a:latin typeface="Arial"/>
                <a:ea typeface="Arial"/>
                <a:cs typeface="Arial"/>
              </a:rPr>
              <a:t>4.36° population SD</a:t>
            </a:r>
          </a:p>
        </p:txBody>
      </p:sp>
      <p:sp>
        <p:nvSpPr>
          <p:cNvPr id="4" name="">
            <a:extLst xmlns:a="http://schemas.openxmlformats.org/drawingml/2006/main">
              <a:ext uri="{FF2B5EF4-FFF2-40B4-BE49-F238E27FC236}">
                <a16:creationId xmlns:a16="http://schemas.microsoft.com/office/drawing/2014/main" id="{099BCCA4-8398-4533-9D77-A78B795BF1CC}"/>
              </a:ext>
            </a:extLst>
          </p:cNvPr>
          <p:cNvSpPr>
            <a:spLocks xmlns:a="http://schemas.openxmlformats.org/drawingml/2006/main" noGrp="1"/>
          </p:cNvSpPr>
          <p:nvPr/>
        </p:nvSpPr>
        <p:spPr>
          <a:xfrm xmlns:a="http://schemas.openxmlformats.org/drawingml/2006/main">
            <a:off x="8334375" y="3429000"/>
            <a:ext cx="3190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F3D"/>
                </a:solidFill>
                <a:latin typeface="Arial"/>
                <a:ea typeface="Arial"/>
                <a:cs typeface="Arial"/>
              </a:defRPr>
            </a:pPr>
            <a:r>
              <a:rPr sz="2100" b="0">
                <a:solidFill>
                  <a:srgbClr val="182F3D"/>
                </a:solidFill>
                <a:latin typeface="Arial"/>
                <a:ea typeface="Arial"/>
                <a:cs typeface="Arial"/>
              </a:rPr>
              <a:t>Middle half</a:t>
            </a:r>
          </a:p>
          <a:p xmlns:a="http://schemas.openxmlformats.org/drawingml/2006/main">
            <a:pPr>
              <a:defRPr sz="2100" b="0">
                <a:solidFill>
                  <a:srgbClr val="182F3D"/>
                </a:solidFill>
                <a:latin typeface="Arial"/>
                <a:ea typeface="Arial"/>
                <a:cs typeface="Arial"/>
              </a:defRPr>
            </a:pPr>
            <a:r>
              <a:rPr sz="2100" b="0">
                <a:solidFill>
                  <a:srgbClr val="182F3D"/>
                </a:solidFill>
                <a:latin typeface="Arial"/>
                <a:ea typeface="Arial"/>
                <a:cs typeface="Arial"/>
              </a:rPr>
              <a:t>7.11°–11.74°</a:t>
            </a:r>
          </a:p>
          <a:p xmlns:a="http://schemas.openxmlformats.org/drawingml/2006/main">
            <a:r>
              <a:t/>
            </a:r>
          </a:p>
          <a:p xmlns:a="http://schemas.openxmlformats.org/drawingml/2006/main">
            <a:pPr>
              <a:defRPr sz="2100" b="0">
                <a:solidFill>
                  <a:srgbClr val="182F3D"/>
                </a:solidFill>
                <a:latin typeface="Arial"/>
                <a:ea typeface="Arial"/>
                <a:cs typeface="Arial"/>
              </a:defRPr>
            </a:pPr>
            <a:r>
              <a:rPr sz="2100" b="0">
                <a:solidFill>
                  <a:srgbClr val="182F3D"/>
                </a:solidFill>
                <a:latin typeface="Arial"/>
                <a:ea typeface="Arial"/>
                <a:cs typeface="Arial"/>
              </a:rPr>
              <a:t>Maximum</a:t>
            </a:r>
          </a:p>
          <a:p xmlns:a="http://schemas.openxmlformats.org/drawingml/2006/main">
            <a:pPr>
              <a:defRPr sz="2100" b="0">
                <a:solidFill>
                  <a:srgbClr val="182F3D"/>
                </a:solidFill>
                <a:latin typeface="Arial"/>
                <a:ea typeface="Arial"/>
                <a:cs typeface="Arial"/>
              </a:defRPr>
            </a:pPr>
            <a:r>
              <a:rPr sz="2100" b="0">
                <a:solidFill>
                  <a:srgbClr val="182F3D"/>
                </a:solidFill>
                <a:latin typeface="Arial"/>
                <a:ea typeface="Arial"/>
                <a:cs typeface="Arial"/>
              </a:rPr>
              <a:t>32.34°</a:t>
            </a:r>
          </a:p>
        </p:txBody>
      </p:sp>
      <p:sp>
        <p:nvSpPr>
          <p:cNvPr id="5" name="">
            <a:extLst xmlns:a="http://schemas.openxmlformats.org/drawingml/2006/main">
              <a:ext uri="{FF2B5EF4-FFF2-40B4-BE49-F238E27FC236}">
                <a16:creationId xmlns:a16="http://schemas.microsoft.com/office/drawing/2014/main" id="{7030AED3-0FCB-4D5F-BF09-15F37BC01848}"/>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Each point is one unique motion. IDs 287, 552, 696, 905 and 964 have the largest errors.</a:t>
            </a:r>
          </a:p>
        </p:txBody>
      </p:sp>
    </p:spTree>
    <p:extLst>
      <p:ext uri="{BB962C8B-B14F-4D97-AF65-F5344CB8AC3E}">
        <p14:creationId xmlns:p14="http://schemas.microsoft.com/office/powerpoint/2010/main" val="8909543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52177F7-CABA-4180-935A-66011D7712FF}"/>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Pinky and proximal joints carry more error</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f6e3f12ed0b84d26"/>
          <a:stretch xmlns:a="http://schemas.openxmlformats.org/drawingml/2006/main"/>
        </p:blipFill>
        <p:spPr>
          <a:xfrm xmlns:a="http://schemas.openxmlformats.org/drawingml/2006/main">
            <a:off x="1838720" y="1209675"/>
            <a:ext cx="8466936" cy="4429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D19984C-A342-4CD0-B251-F851DC287B83}"/>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Pinky mean CET 12.05°. It has the largest finger error in 32 of 91 motions.</a:t>
            </a:r>
          </a:p>
        </p:txBody>
      </p:sp>
    </p:spTree>
    <p:extLst>
      <p:ext uri="{BB962C8B-B14F-4D97-AF65-F5344CB8AC3E}">
        <p14:creationId xmlns:p14="http://schemas.microsoft.com/office/powerpoint/2010/main" val="7654735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7DB118-7736-4FC7-9DD0-8E77CD1B64ED}"/>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Reference curl amount and CET answer different questions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1c076f2dee54e34"/>
          <a:stretch xmlns:a="http://schemas.openxmlformats.org/drawingml/2006/main"/>
        </p:blipFill>
        <p:spPr>
          <a:xfrm xmlns:a="http://schemas.openxmlformats.org/drawingml/2006/main">
            <a:off x="805289" y="1200150"/>
            <a:ext cx="6676173" cy="46958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4CD710E-A577-4F95-8367-C97FE155FBB7}"/>
              </a:ext>
            </a:extLst>
          </p:cNvPr>
          <p:cNvSpPr>
            <a:spLocks xmlns:a="http://schemas.openxmlformats.org/drawingml/2006/main" noGrp="1"/>
          </p:cNvSpPr>
          <p:nvPr/>
        </p:nvSpPr>
        <p:spPr>
          <a:xfrm xmlns:a="http://schemas.openxmlformats.org/drawingml/2006/main">
            <a:off x="8191500" y="1428750"/>
            <a:ext cx="34290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2F3D"/>
                </a:solidFill>
                <a:latin typeface="Arial"/>
                <a:ea typeface="Arial"/>
                <a:cs typeface="Arial"/>
              </a:defRPr>
            </a:pPr>
            <a:r>
              <a:rPr sz="1950" b="0">
                <a:solidFill>
                  <a:srgbClr val="182F3D"/>
                </a:solidFill>
                <a:latin typeface="Arial"/>
                <a:ea typeface="Arial"/>
                <a:cs typeface="Arial"/>
              </a:rPr>
              <a:t>GT depth</a:t>
            </a:r>
          </a:p>
          <a:p xmlns:a="http://schemas.openxmlformats.org/drawingml/2006/main">
            <a:pPr>
              <a:defRPr sz="1950" b="0">
                <a:solidFill>
                  <a:srgbClr val="182F3D"/>
                </a:solidFill>
                <a:latin typeface="Arial"/>
                <a:ea typeface="Arial"/>
                <a:cs typeface="Arial"/>
              </a:defRPr>
            </a:pPr>
            <a:r>
              <a:rPr sz="1950" b="0">
                <a:solidFill>
                  <a:srgbClr val="182F3D"/>
                </a:solidFill>
                <a:latin typeface="Arial"/>
                <a:ea typeface="Arial"/>
                <a:cs typeface="Arial"/>
              </a:rPr>
              <a:t>How flexed is the hand?</a:t>
            </a:r>
          </a:p>
          <a:p xmlns:a="http://schemas.openxmlformats.org/drawingml/2006/main">
            <a:r>
              <a:t/>
            </a:r>
          </a:p>
          <a:p xmlns:a="http://schemas.openxmlformats.org/drawingml/2006/main">
            <a:pPr>
              <a:defRPr sz="1950" b="0">
                <a:solidFill>
                  <a:srgbClr val="182F3D"/>
                </a:solidFill>
                <a:latin typeface="Arial"/>
                <a:ea typeface="Arial"/>
                <a:cs typeface="Arial"/>
              </a:defRPr>
            </a:pPr>
            <a:r>
              <a:rPr sz="1950" b="0">
                <a:solidFill>
                  <a:srgbClr val="182F3D"/>
                </a:solidFill>
                <a:latin typeface="Arial"/>
                <a:ea typeface="Arial"/>
                <a:cs typeface="Arial"/>
              </a:rPr>
              <a:t>GT activity</a:t>
            </a:r>
          </a:p>
          <a:p xmlns:a="http://schemas.openxmlformats.org/drawingml/2006/main">
            <a:pPr>
              <a:defRPr sz="1950" b="0">
                <a:solidFill>
                  <a:srgbClr val="182F3D"/>
                </a:solidFill>
                <a:latin typeface="Arial"/>
                <a:ea typeface="Arial"/>
                <a:cs typeface="Arial"/>
              </a:defRPr>
            </a:pPr>
            <a:r>
              <a:rPr sz="1950" b="0">
                <a:solidFill>
                  <a:srgbClr val="182F3D"/>
                </a:solidFill>
                <a:latin typeface="Arial"/>
                <a:ea typeface="Arial"/>
                <a:cs typeface="Arial"/>
              </a:rPr>
              <a:t>How much does it move?</a:t>
            </a:r>
          </a:p>
          <a:p xmlns:a="http://schemas.openxmlformats.org/drawingml/2006/main">
            <a:r>
              <a:t/>
            </a:r>
          </a:p>
          <a:p xmlns:a="http://schemas.openxmlformats.org/drawingml/2006/main">
            <a:pPr>
              <a:defRPr sz="1950" b="0">
                <a:solidFill>
                  <a:srgbClr val="182F3D"/>
                </a:solidFill>
                <a:latin typeface="Arial"/>
                <a:ea typeface="Arial"/>
                <a:cs typeface="Arial"/>
              </a:defRPr>
            </a:pPr>
            <a:r>
              <a:rPr sz="1950" b="0">
                <a:solidFill>
                  <a:srgbClr val="182F3D"/>
                </a:solidFill>
                <a:latin typeface="Arial"/>
                <a:ea typeface="Arial"/>
                <a:cs typeface="Arial"/>
              </a:rPr>
              <a:t>CET</a:t>
            </a:r>
          </a:p>
          <a:p xmlns:a="http://schemas.openxmlformats.org/drawingml/2006/main">
            <a:pPr>
              <a:defRPr sz="1950" b="0">
                <a:solidFill>
                  <a:srgbClr val="182F3D"/>
                </a:solidFill>
                <a:latin typeface="Arial"/>
                <a:ea typeface="Arial"/>
                <a:cs typeface="Arial"/>
              </a:defRPr>
            </a:pPr>
            <a:r>
              <a:rPr sz="1950" b="0">
                <a:solidFill>
                  <a:srgbClr val="182F3D"/>
                </a:solidFill>
                <a:latin typeface="Arial"/>
                <a:ea typeface="Arial"/>
                <a:cs typeface="Arial"/>
              </a:rPr>
              <a:t>How much does prediction disagree?</a:t>
            </a:r>
          </a:p>
        </p:txBody>
      </p:sp>
      <p:sp>
        <p:nvSpPr>
          <p:cNvPr id="4" name="">
            <a:extLst xmlns:a="http://schemas.openxmlformats.org/drawingml/2006/main">
              <a:ext uri="{FF2B5EF4-FFF2-40B4-BE49-F238E27FC236}">
                <a16:creationId xmlns:a16="http://schemas.microsoft.com/office/drawing/2014/main" id="{682980AD-EC31-4F0E-A27D-7CFA18F24668}"/>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Activity rate correlates with CET (r = 0.51). Depth is weakly associated (r = 0.15).</a:t>
            </a:r>
          </a:p>
        </p:txBody>
      </p:sp>
    </p:spTree>
    <p:extLst>
      <p:ext uri="{BB962C8B-B14F-4D97-AF65-F5344CB8AC3E}">
        <p14:creationId xmlns:p14="http://schemas.microsoft.com/office/powerpoint/2010/main" val="17780402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98E69E-A0AE-4BC8-914C-D35FEB60F4EB}"/>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Motion 389 exposes a dynamic articulation mismatch</a:t>
            </a:r>
          </a:p>
        </p:txBody>
      </p:sp>
      <p:sp>
        <p:nvSpPr>
          <p:cNvPr id="2" name="">
            <a:extLst xmlns:a="http://schemas.openxmlformats.org/drawingml/2006/main">
              <a:ext uri="{FF2B5EF4-FFF2-40B4-BE49-F238E27FC236}">
                <a16:creationId xmlns:a16="http://schemas.microsoft.com/office/drawing/2014/main" id="{587C92EA-7842-4C86-ABFA-6468F34160CB}"/>
              </a:ext>
            </a:extLst>
          </p:cNvPr>
          <p:cNvSpPr>
            <a:spLocks xmlns:a="http://schemas.openxmlformats.org/drawingml/2006/main" noGrp="1"/>
          </p:cNvSpPr>
          <p:nvPr/>
        </p:nvSpPr>
        <p:spPr>
          <a:xfrm xmlns:a="http://schemas.openxmlformats.org/drawingml/2006/main">
            <a:off x="619125" y="12192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F3D"/>
                </a:solidFill>
                <a:latin typeface="Arial"/>
                <a:ea typeface="Arial"/>
                <a:cs typeface="Arial"/>
              </a:defRPr>
            </a:pPr>
            <a:r>
              <a:rPr sz="2025" b="0">
                <a:solidFill>
                  <a:srgbClr val="182F3D"/>
                </a:solidFill>
                <a:latin typeface="Arial"/>
                <a:ea typeface="Arial"/>
                <a:cs typeface="Arial"/>
              </a:rPr>
              <a:t>Close the microwave gate  /  Right hand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4ea5f4e018f4a18"/>
          <a:stretch xmlns:a="http://schemas.openxmlformats.org/drawingml/2006/main"/>
        </p:blipFill>
        <p:spPr>
          <a:xfrm xmlns:a="http://schemas.openxmlformats.org/drawingml/2006/main">
            <a:off x="1116642" y="1790700"/>
            <a:ext cx="9863467"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82F82DF-7BC6-4AF0-8914-5CE05B359F84}"/>
              </a:ext>
            </a:extLst>
          </p:cNvPr>
          <p:cNvSpPr>
            <a:spLocks xmlns:a="http://schemas.openxmlformats.org/drawingml/2006/main" noGrp="1"/>
          </p:cNvSpPr>
          <p:nvPr/>
        </p:nvSpPr>
        <p:spPr>
          <a:xfrm xmlns:a="http://schemas.openxmlformats.org/drawingml/2006/main">
            <a:off x="619125" y="5438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B827E"/>
                </a:solidFill>
                <a:latin typeface="Arial"/>
                <a:ea typeface="Arial"/>
                <a:cs typeface="Arial"/>
              </a:defRPr>
            </a:pPr>
            <a:r>
              <a:rPr sz="2100" b="1">
                <a:solidFill>
                  <a:srgbClr val="1B827E"/>
                </a:solidFill>
                <a:latin typeface="Arial"/>
                <a:ea typeface="Arial"/>
                <a:cs typeface="Arial"/>
              </a:rPr>
              <a:t>CET 17.33°     GT range 46.56°     GT activity rate 18.65°/s</a:t>
            </a:r>
          </a:p>
        </p:txBody>
      </p:sp>
      <p:sp>
        <p:nvSpPr>
          <p:cNvPr id="5" name="">
            <a:extLst xmlns:a="http://schemas.openxmlformats.org/drawingml/2006/main">
              <a:ext uri="{FF2B5EF4-FFF2-40B4-BE49-F238E27FC236}">
                <a16:creationId xmlns:a16="http://schemas.microsoft.com/office/drawing/2014/main" id="{5FC958FC-969B-43DA-9534-EEDF12C40EBC}"/>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Largest reference range and activity rate in this batch. Error remains after alignment.</a:t>
            </a:r>
          </a:p>
        </p:txBody>
      </p:sp>
    </p:spTree>
    <p:extLst>
      <p:ext uri="{BB962C8B-B14F-4D97-AF65-F5344CB8AC3E}">
        <p14:creationId xmlns:p14="http://schemas.microsoft.com/office/powerpoint/2010/main" val="361383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82F165-90AD-4CE8-8130-BB706230C1F8}"/>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Motion 37 shows that demanding articulation can succeed</a:t>
            </a:r>
          </a:p>
        </p:txBody>
      </p:sp>
      <p:sp>
        <p:nvSpPr>
          <p:cNvPr id="2" name="">
            <a:extLst xmlns:a="http://schemas.openxmlformats.org/drawingml/2006/main">
              <a:ext uri="{FF2B5EF4-FFF2-40B4-BE49-F238E27FC236}">
                <a16:creationId xmlns:a16="http://schemas.microsoft.com/office/drawing/2014/main" id="{F9BC1291-F582-4E2D-BEB3-0DAF35B813BE}"/>
              </a:ext>
            </a:extLst>
          </p:cNvPr>
          <p:cNvSpPr>
            <a:spLocks xmlns:a="http://schemas.openxmlformats.org/drawingml/2006/main" noGrp="1"/>
          </p:cNvSpPr>
          <p:nvPr/>
        </p:nvSpPr>
        <p:spPr>
          <a:xfrm xmlns:a="http://schemas.openxmlformats.org/drawingml/2006/main">
            <a:off x="619125" y="12192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F3D"/>
                </a:solidFill>
                <a:latin typeface="Arial"/>
                <a:ea typeface="Arial"/>
                <a:cs typeface="Arial"/>
              </a:defRPr>
            </a:pPr>
            <a:r>
              <a:rPr sz="2025" b="0">
                <a:solidFill>
                  <a:srgbClr val="182F3D"/>
                </a:solidFill>
                <a:latin typeface="Arial"/>
                <a:ea typeface="Arial"/>
                <a:cs typeface="Arial"/>
              </a:rPr>
              <a:t>Pour juice from a tall blue mug into a bowl  /  Right hand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c0582950ce649e1"/>
          <a:stretch xmlns:a="http://schemas.openxmlformats.org/drawingml/2006/main"/>
        </p:blipFill>
        <p:spPr>
          <a:xfrm xmlns:a="http://schemas.openxmlformats.org/drawingml/2006/main">
            <a:off x="1116642" y="1790700"/>
            <a:ext cx="9863467"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1BAA6D7-EF4A-48BC-A66E-0777708A729A}"/>
              </a:ext>
            </a:extLst>
          </p:cNvPr>
          <p:cNvSpPr>
            <a:spLocks xmlns:a="http://schemas.openxmlformats.org/drawingml/2006/main" noGrp="1"/>
          </p:cNvSpPr>
          <p:nvPr/>
        </p:nvSpPr>
        <p:spPr>
          <a:xfrm xmlns:a="http://schemas.openxmlformats.org/drawingml/2006/main">
            <a:off x="619125" y="5438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B827E"/>
                </a:solidFill>
                <a:latin typeface="Arial"/>
                <a:ea typeface="Arial"/>
                <a:cs typeface="Arial"/>
              </a:defRPr>
            </a:pPr>
            <a:r>
              <a:rPr sz="2100" b="1">
                <a:solidFill>
                  <a:srgbClr val="1B827E"/>
                </a:solidFill>
                <a:latin typeface="Arial"/>
                <a:ea typeface="Arial"/>
                <a:cs typeface="Arial"/>
              </a:rPr>
              <a:t>CET 5.31°     GT depth 50.68°     GT range 37.38°</a:t>
            </a:r>
          </a:p>
        </p:txBody>
      </p:sp>
      <p:sp>
        <p:nvSpPr>
          <p:cNvPr id="5" name="">
            <a:extLst xmlns:a="http://schemas.openxmlformats.org/drawingml/2006/main">
              <a:ext uri="{FF2B5EF4-FFF2-40B4-BE49-F238E27FC236}">
                <a16:creationId xmlns:a16="http://schemas.microsoft.com/office/drawing/2014/main" id="{E1AD9BEA-835D-4646-8A58-88BB2912EA8E}"/>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A demanding positive control: future improvements should preserve this level of agreement.</a:t>
            </a:r>
          </a:p>
        </p:txBody>
      </p:sp>
    </p:spTree>
    <p:extLst>
      <p:ext uri="{BB962C8B-B14F-4D97-AF65-F5344CB8AC3E}">
        <p14:creationId xmlns:p14="http://schemas.microsoft.com/office/powerpoint/2010/main" val="6040068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44ADFB-9DF1-4BB9-AE83-7A9AB61E9E6B}"/>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Motion 552 fails despite almost no curl excursion</a:t>
            </a:r>
          </a:p>
        </p:txBody>
      </p:sp>
      <p:sp>
        <p:nvSpPr>
          <p:cNvPr id="2" name="">
            <a:extLst xmlns:a="http://schemas.openxmlformats.org/drawingml/2006/main">
              <a:ext uri="{FF2B5EF4-FFF2-40B4-BE49-F238E27FC236}">
                <a16:creationId xmlns:a16="http://schemas.microsoft.com/office/drawing/2014/main" id="{02C4ADB5-697E-4476-A277-C1092064A425}"/>
              </a:ext>
            </a:extLst>
          </p:cNvPr>
          <p:cNvSpPr>
            <a:spLocks xmlns:a="http://schemas.openxmlformats.org/drawingml/2006/main" noGrp="1"/>
          </p:cNvSpPr>
          <p:nvPr/>
        </p:nvSpPr>
        <p:spPr>
          <a:xfrm xmlns:a="http://schemas.openxmlformats.org/drawingml/2006/main">
            <a:off x="619125" y="12192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F3D"/>
                </a:solidFill>
                <a:latin typeface="Arial"/>
                <a:ea typeface="Arial"/>
                <a:cs typeface="Arial"/>
              </a:defRPr>
            </a:pPr>
            <a:r>
              <a:rPr sz="2025" b="0">
                <a:solidFill>
                  <a:srgbClr val="182F3D"/>
                </a:solidFill>
                <a:latin typeface="Arial"/>
                <a:ea typeface="Arial"/>
                <a:cs typeface="Arial"/>
              </a:rPr>
              <a:t>Press the microwave button  /  Left hand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c14047a8089465c"/>
          <a:stretch xmlns:a="http://schemas.openxmlformats.org/drawingml/2006/main"/>
        </p:blipFill>
        <p:spPr>
          <a:xfrm xmlns:a="http://schemas.openxmlformats.org/drawingml/2006/main">
            <a:off x="1116642" y="1790700"/>
            <a:ext cx="9863467"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1DB5E9-8DE6-4690-978E-C20AABD0F1FB}"/>
              </a:ext>
            </a:extLst>
          </p:cNvPr>
          <p:cNvSpPr>
            <a:spLocks xmlns:a="http://schemas.openxmlformats.org/drawingml/2006/main" noGrp="1"/>
          </p:cNvSpPr>
          <p:nvPr/>
        </p:nvSpPr>
        <p:spPr>
          <a:xfrm xmlns:a="http://schemas.openxmlformats.org/drawingml/2006/main">
            <a:off x="619125" y="5438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B827E"/>
                </a:solidFill>
                <a:latin typeface="Arial"/>
                <a:ea typeface="Arial"/>
                <a:cs typeface="Arial"/>
              </a:defRPr>
            </a:pPr>
            <a:r>
              <a:rPr sz="2100" b="1">
                <a:solidFill>
                  <a:srgbClr val="1B827E"/>
                </a:solidFill>
                <a:latin typeface="Arial"/>
                <a:ea typeface="Arial"/>
                <a:cs typeface="Arial"/>
              </a:rPr>
              <a:t>CET 32.34°     GT range 2.27°     Duration 0.225 s</a:t>
            </a:r>
          </a:p>
        </p:txBody>
      </p:sp>
      <p:sp>
        <p:nvSpPr>
          <p:cNvPr id="5" name="">
            <a:extLst xmlns:a="http://schemas.openxmlformats.org/drawingml/2006/main">
              <a:ext uri="{FF2B5EF4-FFF2-40B4-BE49-F238E27FC236}">
                <a16:creationId xmlns:a16="http://schemas.microsoft.com/office/drawing/2014/main" id="{CF5F6DC6-1585-4539-8D45-E9D62245A274}"/>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Incorrect held posture can dominate CET. High variation rate alone would misclassify this case.</a:t>
            </a:r>
          </a:p>
        </p:txBody>
      </p:sp>
    </p:spTree>
    <p:extLst>
      <p:ext uri="{BB962C8B-B14F-4D97-AF65-F5344CB8AC3E}">
        <p14:creationId xmlns:p14="http://schemas.microsoft.com/office/powerpoint/2010/main" val="15469744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93321A-D954-4297-AFF0-09043344A200}"/>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Motion 934 combines local errors with a meaningful ratio</a:t>
            </a:r>
          </a:p>
        </p:txBody>
      </p:sp>
      <p:sp>
        <p:nvSpPr>
          <p:cNvPr id="2" name="">
            <a:extLst xmlns:a="http://schemas.openxmlformats.org/drawingml/2006/main">
              <a:ext uri="{FF2B5EF4-FFF2-40B4-BE49-F238E27FC236}">
                <a16:creationId xmlns:a16="http://schemas.microsoft.com/office/drawing/2014/main" id="{46546363-7179-43F5-8428-E41FF356C51D}"/>
              </a:ext>
            </a:extLst>
          </p:cNvPr>
          <p:cNvSpPr>
            <a:spLocks xmlns:a="http://schemas.openxmlformats.org/drawingml/2006/main" noGrp="1"/>
          </p:cNvSpPr>
          <p:nvPr/>
        </p:nvSpPr>
        <p:spPr>
          <a:xfrm xmlns:a="http://schemas.openxmlformats.org/drawingml/2006/main">
            <a:off x="619125" y="12192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F3D"/>
                </a:solidFill>
                <a:latin typeface="Arial"/>
                <a:ea typeface="Arial"/>
                <a:cs typeface="Arial"/>
              </a:defRPr>
            </a:pPr>
            <a:r>
              <a:rPr sz="2025" b="0">
                <a:solidFill>
                  <a:srgbClr val="182F3D"/>
                </a:solidFill>
                <a:latin typeface="Arial"/>
                <a:ea typeface="Arial"/>
                <a:cs typeface="Arial"/>
              </a:rPr>
              <a:t>Pour seasonings into a frying pan  /  Right hand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eec62129e8f41e8"/>
          <a:stretch xmlns:a="http://schemas.openxmlformats.org/drawingml/2006/main"/>
        </p:blipFill>
        <p:spPr>
          <a:xfrm xmlns:a="http://schemas.openxmlformats.org/drawingml/2006/main">
            <a:off x="1449867" y="1771650"/>
            <a:ext cx="9197017" cy="3286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339CA0-740F-40BD-8794-B157F9C72C67}"/>
              </a:ext>
            </a:extLst>
          </p:cNvPr>
          <p:cNvSpPr>
            <a:spLocks xmlns:a="http://schemas.openxmlformats.org/drawingml/2006/main" noGrp="1"/>
          </p:cNvSpPr>
          <p:nvPr/>
        </p:nvSpPr>
        <p:spPr>
          <a:xfrm xmlns:a="http://schemas.openxmlformats.org/drawingml/2006/main">
            <a:off x="619125" y="52292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B827E"/>
                </a:solidFill>
                <a:latin typeface="Arial"/>
                <a:ea typeface="Arial"/>
                <a:cs typeface="Arial"/>
              </a:defRPr>
            </a:pPr>
            <a:r>
              <a:rPr sz="2250" b="1">
                <a:solidFill>
                  <a:srgbClr val="1B827E"/>
                </a:solidFill>
                <a:latin typeface="Arial"/>
                <a:ea typeface="Arial"/>
                <a:cs typeface="Arial"/>
              </a:rPr>
              <a:t>Pinky: 9.26° CET / 46.07° GT depth = 20.10%</a:t>
            </a:r>
          </a:p>
        </p:txBody>
      </p:sp>
      <p:sp>
        <p:nvSpPr>
          <p:cNvPr id="5" name="">
            <a:extLst xmlns:a="http://schemas.openxmlformats.org/drawingml/2006/main">
              <a:ext uri="{FF2B5EF4-FFF2-40B4-BE49-F238E27FC236}">
                <a16:creationId xmlns:a16="http://schemas.microsoft.com/office/drawing/2014/main" id="{3F467794-9C2F-40D8-A023-94D1FDE4B504}"/>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Additional error-to-flexion magnitude ratio, not “20% of movement lost.” Thumb error is larger here.</a:t>
            </a:r>
          </a:p>
        </p:txBody>
      </p:sp>
    </p:spTree>
    <p:extLst>
      <p:ext uri="{BB962C8B-B14F-4D97-AF65-F5344CB8AC3E}">
        <p14:creationId xmlns:p14="http://schemas.microsoft.com/office/powerpoint/2010/main" val="7565172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B1C881-C7A7-4364-874F-06EBAF418CD5}"/>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Outputs often contain less accumulated angular movement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ebb1f86ade3470f"/>
          <a:stretch xmlns:a="http://schemas.openxmlformats.org/drawingml/2006/main"/>
        </p:blipFill>
        <p:spPr>
          <a:xfrm xmlns:a="http://schemas.openxmlformats.org/drawingml/2006/main">
            <a:off x="841800" y="1304925"/>
            <a:ext cx="10460774" cy="419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8378B7-3F35-410C-94BD-5F354A8A2FEC}"/>
              </a:ext>
            </a:extLst>
          </p:cNvPr>
          <p:cNvSpPr>
            <a:spLocks xmlns:a="http://schemas.openxmlformats.org/drawingml/2006/main" noGrp="1"/>
          </p:cNvSpPr>
          <p:nvPr/>
        </p:nvSpPr>
        <p:spPr>
          <a:xfrm xmlns:a="http://schemas.openxmlformats.org/drawingml/2006/main">
            <a:off x="619125" y="5524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B827E"/>
                </a:solidFill>
                <a:latin typeface="Arial"/>
                <a:ea typeface="Arial"/>
                <a:cs typeface="Arial"/>
              </a:defRPr>
            </a:pPr>
            <a:r>
              <a:rPr sz="2100" b="1">
                <a:solidFill>
                  <a:srgbClr val="1B827E"/>
                </a:solidFill>
                <a:latin typeface="Arial"/>
                <a:ea typeface="Arial"/>
                <a:cs typeface="Arial"/>
              </a:rPr>
              <a:t>74 of 91 outputs have lower total angular variation than GT</a:t>
            </a:r>
          </a:p>
        </p:txBody>
      </p:sp>
      <p:sp>
        <p:nvSpPr>
          <p:cNvPr id="4" name="">
            <a:extLst xmlns:a="http://schemas.openxmlformats.org/drawingml/2006/main">
              <a:ext uri="{FF2B5EF4-FFF2-40B4-BE49-F238E27FC236}">
                <a16:creationId xmlns:a16="http://schemas.microsoft.com/office/drawing/2014/main" id="{01A9F034-E003-4DC1-BFA9-BA47235CAA7D}"/>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Median output / GT activity ratio 0.758. Accumulated angular movement is not energy.</a:t>
            </a:r>
          </a:p>
        </p:txBody>
      </p:sp>
    </p:spTree>
    <p:extLst>
      <p:ext uri="{BB962C8B-B14F-4D97-AF65-F5344CB8AC3E}">
        <p14:creationId xmlns:p14="http://schemas.microsoft.com/office/powerpoint/2010/main" val="274797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AB5389-DE89-4730-846A-38209BDF3BD5}"/>
              </a:ext>
            </a:extLst>
          </p:cNvPr>
          <p:cNvSpPr>
            <a:spLocks xmlns:a="http://schemas.openxmlformats.org/drawingml/2006/main" noGrp="1"/>
          </p:cNvSpPr>
          <p:nvPr/>
        </p:nvSpPr>
        <p:spPr>
          <a:xfrm xmlns:a="http://schemas.openxmlformats.org/drawingml/2006/main">
            <a:off x="590550" y="333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A focused target for the next thesis stage</a:t>
            </a:r>
          </a:p>
        </p:txBody>
      </p:sp>
      <p:sp>
        <p:nvSpPr>
          <p:cNvPr id="2" name="">
            <a:extLst xmlns:a="http://schemas.openxmlformats.org/drawingml/2006/main">
              <a:ext uri="{FF2B5EF4-FFF2-40B4-BE49-F238E27FC236}">
                <a16:creationId xmlns:a16="http://schemas.microsoft.com/office/drawing/2014/main" id="{1E77538E-6800-44B1-AC11-9CE27BF0C5BB}"/>
              </a:ext>
            </a:extLst>
          </p:cNvPr>
          <p:cNvSpPr>
            <a:spLocks xmlns:a="http://schemas.openxmlformats.org/drawingml/2006/main" noGrp="1"/>
          </p:cNvSpPr>
          <p:nvPr/>
        </p:nvSpPr>
        <p:spPr>
          <a:xfrm xmlns:a="http://schemas.openxmlformats.org/drawingml/2006/main">
            <a:off x="619125" y="13620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B827E"/>
                </a:solidFill>
                <a:latin typeface="Arial"/>
                <a:ea typeface="Arial"/>
                <a:cs typeface="Arial"/>
              </a:defRPr>
            </a:pPr>
            <a:r>
              <a:rPr sz="3150" b="1">
                <a:solidFill>
                  <a:srgbClr val="1B827E"/>
                </a:solidFill>
                <a:latin typeface="Arial"/>
                <a:ea typeface="Arial"/>
                <a:cs typeface="Arial"/>
              </a:rPr>
              <a:t>Reduce CET while preserving the intended interaction</a:t>
            </a:r>
          </a:p>
        </p:txBody>
      </p:sp>
      <p:sp>
        <p:nvSpPr>
          <p:cNvPr id="3" name="">
            <a:extLst xmlns:a="http://schemas.openxmlformats.org/drawingml/2006/main">
              <a:ext uri="{FF2B5EF4-FFF2-40B4-BE49-F238E27FC236}">
                <a16:creationId xmlns:a16="http://schemas.microsoft.com/office/drawing/2014/main" id="{1B23CC0C-DBFE-4D02-AEB0-233D1C4641F3}"/>
              </a:ext>
            </a:extLst>
          </p:cNvPr>
          <p:cNvSpPr>
            <a:spLocks xmlns:a="http://schemas.openxmlformats.org/drawingml/2006/main" noGrp="1"/>
          </p:cNvSpPr>
          <p:nvPr/>
        </p:nvSpPr>
        <p:spPr>
          <a:xfrm xmlns:a="http://schemas.openxmlformats.org/drawingml/2006/main">
            <a:off x="619125" y="27717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F3D"/>
                </a:solidFill>
                <a:latin typeface="Arial"/>
                <a:ea typeface="Arial"/>
                <a:cs typeface="Arial"/>
              </a:defRPr>
            </a:pPr>
            <a:r>
              <a:rPr sz="2175" b="0">
                <a:solidFill>
                  <a:srgbClr val="182F3D"/>
                </a:solidFill>
                <a:latin typeface="Arial"/>
                <a:ea typeface="Arial"/>
                <a:cs typeface="Arial"/>
              </a:rPr>
              <a:t>Prioritize pinky and proximal-joint errors, while checking motion-specific failures.</a:t>
            </a:r>
          </a:p>
        </p:txBody>
      </p:sp>
      <p:sp>
        <p:nvSpPr>
          <p:cNvPr id="4" name="">
            <a:extLst xmlns:a="http://schemas.openxmlformats.org/drawingml/2006/main">
              <a:ext uri="{FF2B5EF4-FFF2-40B4-BE49-F238E27FC236}">
                <a16:creationId xmlns:a16="http://schemas.microsoft.com/office/drawing/2014/main" id="{2EB93724-941A-4A64-BC6E-9F3BEF851028}"/>
              </a:ext>
            </a:extLst>
          </p:cNvPr>
          <p:cNvSpPr>
            <a:spLocks xmlns:a="http://schemas.openxmlformats.org/drawingml/2006/main" noGrp="1"/>
          </p:cNvSpPr>
          <p:nvPr/>
        </p:nvSpPr>
        <p:spPr>
          <a:xfrm xmlns:a="http://schemas.openxmlformats.org/drawingml/2006/main">
            <a:off x="619125" y="37909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F3D"/>
                </a:solidFill>
                <a:latin typeface="Arial"/>
                <a:ea typeface="Arial"/>
                <a:cs typeface="Arial"/>
              </a:defRPr>
            </a:pPr>
            <a:r>
              <a:rPr sz="2175" b="0">
                <a:solidFill>
                  <a:srgbClr val="182F3D"/>
                </a:solidFill>
                <a:latin typeface="Arial"/>
                <a:ea typeface="Arial"/>
                <a:cs typeface="Arial"/>
              </a:rPr>
              <a:t>Cover depth, excursion and activity separately. Retain demanding successes as controls.</a:t>
            </a:r>
          </a:p>
        </p:txBody>
      </p:sp>
      <p:sp>
        <p:nvSpPr>
          <p:cNvPr id="5" name="">
            <a:extLst xmlns:a="http://schemas.openxmlformats.org/drawingml/2006/main">
              <a:ext uri="{FF2B5EF4-FFF2-40B4-BE49-F238E27FC236}">
                <a16:creationId xmlns:a16="http://schemas.microsoft.com/office/drawing/2014/main" id="{B6BBA61E-92C3-4FAC-AB42-B0BCEDDEF81C}"/>
              </a:ext>
            </a:extLst>
          </p:cNvPr>
          <p:cNvSpPr>
            <a:spLocks xmlns:a="http://schemas.openxmlformats.org/drawingml/2006/main" noGrp="1"/>
          </p:cNvSpPr>
          <p:nvPr/>
        </p:nvSpPr>
        <p:spPr>
          <a:xfrm xmlns:a="http://schemas.openxmlformats.org/drawingml/2006/main">
            <a:off x="619125" y="4810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F3D"/>
                </a:solidFill>
                <a:latin typeface="Arial"/>
                <a:ea typeface="Arial"/>
                <a:cs typeface="Arial"/>
              </a:defRPr>
            </a:pPr>
            <a:r>
              <a:rPr sz="2175" b="0">
                <a:solidFill>
                  <a:srgbClr val="182F3D"/>
                </a:solidFill>
                <a:latin typeface="Arial"/>
                <a:ea typeface="Arial"/>
                <a:cs typeface="Arial"/>
              </a:rPr>
              <a:t>Extend beyond 91 motions and evaluate contact and action fidelity alongside articulation.</a:t>
            </a:r>
          </a:p>
        </p:txBody>
      </p:sp>
      <p:sp>
        <p:nvSpPr>
          <p:cNvPr id="6" name="">
            <a:extLst xmlns:a="http://schemas.openxmlformats.org/drawingml/2006/main">
              <a:ext uri="{FF2B5EF4-FFF2-40B4-BE49-F238E27FC236}">
                <a16:creationId xmlns:a16="http://schemas.microsoft.com/office/drawing/2014/main" id="{8B2907AA-1DF4-4142-BE23-8BFD52A326C3}"/>
              </a:ext>
            </a:extLst>
          </p:cNvPr>
          <p:cNvSpPr>
            <a:spLocks xmlns:a="http://schemas.openxmlformats.org/drawingml/2006/main" noGrp="1"/>
          </p:cNvSpPr>
          <p:nvPr/>
        </p:nvSpPr>
        <p:spPr>
          <a:xfrm xmlns:a="http://schemas.openxmlformats.org/drawingml/2006/main">
            <a:off x="619125"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670"/>
                </a:solidFill>
                <a:latin typeface="Arial"/>
                <a:ea typeface="Arial"/>
                <a:cs typeface="Arial"/>
              </a:defRPr>
            </a:pPr>
            <a:r>
              <a:rPr sz="1650" b="0">
                <a:solidFill>
                  <a:srgbClr val="536670"/>
                </a:solidFill>
                <a:latin typeface="Arial"/>
                <a:ea typeface="Arial"/>
                <a:cs typeface="Arial"/>
              </a:rPr>
              <a:t>Evidence scope: 20 source sequences. Partial batch, descriptive associations, no causal claims.</a:t>
            </a:r>
          </a:p>
        </p:txBody>
      </p:sp>
    </p:spTree>
    <p:extLst>
      <p:ext uri="{BB962C8B-B14F-4D97-AF65-F5344CB8AC3E}">
        <p14:creationId xmlns:p14="http://schemas.microsoft.com/office/powerpoint/2010/main" val="373596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2026-10-06T04:02:57.4040000Z</dcterms:created>
  <dcterms:modified xsi:type="dcterms:W3CDTF">2026-10-06T04:02:57.4040000Z</dcterms:modified>
</coreProperties>
</file>